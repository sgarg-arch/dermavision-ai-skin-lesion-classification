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64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t>Score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Score</c:v>
          </c:tx>
          <c:spPr>
            <a:solidFill>
              <a:srgbClr val="16B9C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Accuracy</c:v>
                </c:pt>
                <c:pt idx="1">
                  <c:v>ROC-AUC</c:v>
                </c:pt>
                <c:pt idx="2">
                  <c:v>Precision</c:v>
                </c:pt>
                <c:pt idx="3">
                  <c:v>Recall</c:v>
                </c:pt>
                <c:pt idx="4">
                  <c:v>Specificity</c:v>
                </c:pt>
                <c:pt idx="5">
                  <c:v>F1 score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0.84209999999999996</c:v>
                </c:pt>
                <c:pt idx="1">
                  <c:v>0.9153</c:v>
                </c:pt>
                <c:pt idx="2">
                  <c:v>0.75749999999999995</c:v>
                </c:pt>
                <c:pt idx="3">
                  <c:v>0.77659999999999996</c:v>
                </c:pt>
                <c:pt idx="4">
                  <c:v>0.875</c:v>
                </c:pt>
                <c:pt idx="5">
                  <c:v>0.76690000000000003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935-469B-8997-A2EED9D2584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facts: supplied ISIC 2019 ResNet50 Notebook Report, p.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report, pp. 1-2 and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report, pp. 2 and 8. Research-use caution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report, pp. 2, 4 and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report, p.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report, p. 4. The report notes that 'benign' represents remaining non-positive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report, p. 4. Native editable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report, p.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report, p.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report, p.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report, p.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report, pp. 3, 7, and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report, pp. 8-9.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report, p. 7. The scheduler observation is a documented code-quality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report, p.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report, p. 8. Native editable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report, p. 8. Native editable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report, p. 8. The listed validation needs are documented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team-provided IBM Bob usage statement. Confirm the slide accurately reflects the team's own use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report, pp. 9-12. Summary retains research-use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4867CC4-3BBC-464A-98ED-40152F02F6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BA4584-BC44-4977-99B3-72D6E5D2BFC5}"/>
              </a:ext>
            </a:extLst>
          </p:cNvPr>
          <p:cNvSpPr>
            <a:spLocks noGrp="1"/>
          </p:cNvSpPr>
          <p:nvPr/>
        </p:nvSpPr>
        <p:spPr>
          <a:xfrm>
            <a:off x="609600" y="866775"/>
            <a:ext cx="895350" cy="76200"/>
          </a:xfrm>
          <a:prstGeom prst="rect">
            <a:avLst/>
          </a:prstGeom>
          <a:solidFill>
            <a:srgbClr val="16B9C8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A48321-3E0F-4B6C-8431-E9D1F60EDCB6}"/>
              </a:ext>
            </a:extLst>
          </p:cNvPr>
          <p:cNvSpPr>
            <a:spLocks noGrp="1"/>
          </p:cNvSpPr>
          <p:nvPr/>
        </p:nvSpPr>
        <p:spPr>
          <a:xfrm>
            <a:off x="628650" y="1219200"/>
            <a:ext cx="533400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Skin Lesion</a:t>
            </a:r>
          </a:p>
          <a:p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Classification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D45EB6-3AA9-4717-A329-6908AEB2C7F6}"/>
              </a:ext>
            </a:extLst>
          </p:cNvPr>
          <p:cNvSpPr>
            <a:spLocks noGrp="1"/>
          </p:cNvSpPr>
          <p:nvPr/>
        </p:nvSpPr>
        <p:spPr>
          <a:xfrm>
            <a:off x="647700" y="2857500"/>
            <a:ext cx="4572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875" b="0">
                <a:solidFill>
                  <a:srgbClr val="65E3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E3E8"/>
                </a:solidFill>
                <a:latin typeface="Arial"/>
                <a:ea typeface="Arial"/>
                <a:cs typeface="Arial"/>
              </a:rPr>
              <a:t>Using ISIC 2019 and ResNet50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A66835-AB43-4FF1-91DC-8A76307EE8AC}"/>
              </a:ext>
            </a:extLst>
          </p:cNvPr>
          <p:cNvSpPr>
            <a:spLocks noGrp="1"/>
          </p:cNvSpPr>
          <p:nvPr/>
        </p:nvSpPr>
        <p:spPr>
          <a:xfrm>
            <a:off x="647700" y="5105400"/>
            <a:ext cx="40005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DermaVision AI</a:t>
            </a:r>
          </a:p>
          <a:p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Satvik Garg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74C514-1CAC-4926-9621-83EF10C4F167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3048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 algn="l">
              <a:defRPr sz="1050" b="0">
                <a:solidFill>
                  <a:srgbClr val="65E3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E3E8"/>
                </a:solidFill>
                <a:latin typeface="Arial"/>
                <a:ea typeface="Arial"/>
                <a:cs typeface="Arial"/>
              </a:rPr>
              <a:t>Research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41206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1B4D9ED-5F60-4455-8237-AA43D40E75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6B9C8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FAC92D-70D4-4F18-8523-88D614665894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Project at a glance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AF0CE8-2E44-485E-BFE5-6F88C9A16A64}"/>
              </a:ext>
            </a:extLst>
          </p:cNvPr>
          <p:cNvSpPr>
            <a:spLocks noGrp="1"/>
          </p:cNvSpPr>
          <p:nvPr/>
        </p:nvSpPr>
        <p:spPr>
          <a:xfrm>
            <a:off x="704850" y="990600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A binary image classifier for dermoscopic skin lesions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F7E495-D052-45EB-8D47-53E9BC8829C8}"/>
              </a:ext>
            </a:extLst>
          </p:cNvPr>
          <p:cNvSpPr>
            <a:spLocks noGrp="1"/>
          </p:cNvSpPr>
          <p:nvPr/>
        </p:nvSpPr>
        <p:spPr>
          <a:xfrm>
            <a:off x="876300" y="2095500"/>
            <a:ext cx="2190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889"/>
          </a:bodyPr>
          <a:lstStyle/>
          <a:p>
            <a:pPr algn="l">
              <a:defRPr sz="2700" b="1">
                <a:solidFill>
                  <a:srgbClr val="16B9C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B9C8"/>
                </a:solidFill>
                <a:latin typeface="Arial"/>
                <a:ea typeface="Arial"/>
                <a:cs typeface="Arial"/>
              </a:rPr>
              <a:t>25,331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12355C-647A-4B88-9738-0ED7021E5EA8}"/>
              </a:ext>
            </a:extLst>
          </p:cNvPr>
          <p:cNvSpPr>
            <a:spLocks noGrp="1"/>
          </p:cNvSpPr>
          <p:nvPr/>
        </p:nvSpPr>
        <p:spPr>
          <a:xfrm>
            <a:off x="876300" y="259080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labelled images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CF42DB-9462-4A79-A65C-C5B7A43CAD5D}"/>
              </a:ext>
            </a:extLst>
          </p:cNvPr>
          <p:cNvSpPr>
            <a:spLocks noGrp="1"/>
          </p:cNvSpPr>
          <p:nvPr/>
        </p:nvSpPr>
        <p:spPr>
          <a:xfrm>
            <a:off x="3952875" y="2095500"/>
            <a:ext cx="2190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889"/>
          </a:bodyPr>
          <a:lstStyle/>
          <a:p>
            <a:pPr algn="l">
              <a:defRPr sz="2700" b="1">
                <a:solidFill>
                  <a:srgbClr val="F2A83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2A83B"/>
                </a:solidFill>
                <a:latin typeface="Arial"/>
                <a:ea typeface="Arial"/>
                <a:cs typeface="Arial"/>
              </a:rPr>
              <a:t>0.9153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2CBE45-BDD8-4082-8CC5-2D499806BC45}"/>
              </a:ext>
            </a:extLst>
          </p:cNvPr>
          <p:cNvSpPr>
            <a:spLocks noGrp="1"/>
          </p:cNvSpPr>
          <p:nvPr/>
        </p:nvSpPr>
        <p:spPr>
          <a:xfrm>
            <a:off x="3952875" y="259080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test ROC-AUC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FB134A-F93E-4D31-9622-146059C03D0E}"/>
              </a:ext>
            </a:extLst>
          </p:cNvPr>
          <p:cNvSpPr>
            <a:spLocks noGrp="1"/>
          </p:cNvSpPr>
          <p:nvPr/>
        </p:nvSpPr>
        <p:spPr>
          <a:xfrm>
            <a:off x="7000875" y="2095500"/>
            <a:ext cx="2190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889"/>
          </a:bodyPr>
          <a:lstStyle/>
          <a:p>
            <a:pPr algn="l">
              <a:defRPr sz="2700" b="1">
                <a:solidFill>
                  <a:srgbClr val="16B9C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B9C8"/>
                </a:solidFill>
                <a:latin typeface="Arial"/>
                <a:ea typeface="Arial"/>
                <a:cs typeface="Arial"/>
              </a:rPr>
              <a:t>84.21%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E33755-5689-4DD2-A763-26CDEC459BCC}"/>
              </a:ext>
            </a:extLst>
          </p:cNvPr>
          <p:cNvSpPr>
            <a:spLocks noGrp="1"/>
          </p:cNvSpPr>
          <p:nvPr/>
        </p:nvSpPr>
        <p:spPr>
          <a:xfrm>
            <a:off x="7000875" y="259080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test accuracy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581C28-9703-4E22-86E5-5B191F35E215}"/>
              </a:ext>
            </a:extLst>
          </p:cNvPr>
          <p:cNvSpPr>
            <a:spLocks noGrp="1"/>
          </p:cNvSpPr>
          <p:nvPr/>
        </p:nvSpPr>
        <p:spPr>
          <a:xfrm>
            <a:off x="9810750" y="2095500"/>
            <a:ext cx="1619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889"/>
          </a:bodyPr>
          <a:lstStyle/>
          <a:p>
            <a:pPr algn="l">
              <a:defRPr sz="2700" b="1">
                <a:solidFill>
                  <a:srgbClr val="F2A83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2A83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11BC19-0E4D-4CA9-ACC5-BEE332F55D52}"/>
              </a:ext>
            </a:extLst>
          </p:cNvPr>
          <p:cNvSpPr>
            <a:spLocks noGrp="1"/>
          </p:cNvSpPr>
          <p:nvPr/>
        </p:nvSpPr>
        <p:spPr>
          <a:xfrm>
            <a:off x="9810750" y="2590800"/>
            <a:ext cx="1619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3785"/>
          </a:bodyPr>
          <a:lstStyle/>
          <a:p>
            <a:pPr algn="l">
              <a:defRPr sz="127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transfer-learning stages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CA274D-C09F-4153-9F5A-54DC90E6649F}"/>
              </a:ext>
            </a:extLst>
          </p:cNvPr>
          <p:cNvSpPr>
            <a:spLocks noGrp="1"/>
          </p:cNvSpPr>
          <p:nvPr/>
        </p:nvSpPr>
        <p:spPr>
          <a:xfrm>
            <a:off x="876300" y="3905250"/>
            <a:ext cx="962025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306"/>
          </a:bodyPr>
          <a:lstStyle/>
          <a:p>
            <a:pPr algn="l">
              <a:defRPr sz="18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The model groups melanoma, basal cell carcinoma, and squamous cell carcinoma as the malignant class. It learns from dermoscopic images and produces a probability of malignancy.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B873A6-603E-4C45-93EC-946741F2EC5E}"/>
              </a:ext>
            </a:extLst>
          </p:cNvPr>
          <p:cNvSpPr>
            <a:spLocks noGrp="1"/>
          </p:cNvSpPr>
          <p:nvPr/>
        </p:nvSpPr>
        <p:spPr>
          <a:xfrm>
            <a:off x="876300" y="5238750"/>
            <a:ext cx="96202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 i="1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5E728A"/>
                </a:solidFill>
                <a:latin typeface="Arial"/>
                <a:ea typeface="Arial"/>
                <a:cs typeface="Arial"/>
              </a:rPr>
              <a:t>Scope: research and educational decision support. Clinical deployment requires further validation and medical governance.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BB87BB-2F68-423F-8E62-2F9C68EA4F50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10820400" cy="9525"/>
          </a:xfrm>
          <a:prstGeom prst="rect">
            <a:avLst/>
          </a:prstGeom>
          <a:solidFill>
            <a:srgbClr val="D5E5E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7FC176-58DA-428D-A384-BBCAB87CD703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6953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DermaVision AI  |  Skin Lesion Classification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6D7774-252F-45A7-9ADC-3100A509C135}"/>
              </a:ext>
            </a:extLst>
          </p:cNvPr>
          <p:cNvSpPr>
            <a:spLocks noGrp="1"/>
          </p:cNvSpPr>
          <p:nvPr/>
        </p:nvSpPr>
        <p:spPr>
          <a:xfrm>
            <a:off x="10934700" y="6591300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88689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7D59494-A37C-4FC8-B05D-C3BDDD5FD1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6B9C8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B7BE57-48A8-498A-9905-8FF9A9E9C9CF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462A60-FE48-457B-9C55-33B61AD8C30D}"/>
              </a:ext>
            </a:extLst>
          </p:cNvPr>
          <p:cNvSpPr>
            <a:spLocks noGrp="1"/>
          </p:cNvSpPr>
          <p:nvPr/>
        </p:nvSpPr>
        <p:spPr>
          <a:xfrm>
            <a:off x="704850" y="990600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Subtle visual differences can make early screening difficult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8AED65-9BD4-48DE-9B36-50D81584C797}"/>
              </a:ext>
            </a:extLst>
          </p:cNvPr>
          <p:cNvSpPr>
            <a:spLocks noGrp="1"/>
          </p:cNvSpPr>
          <p:nvPr/>
        </p:nvSpPr>
        <p:spPr>
          <a:xfrm>
            <a:off x="838200" y="1809750"/>
            <a:ext cx="4667250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661"/>
          </a:bodyPr>
          <a:lstStyle/>
          <a:p>
            <a:pPr algn="l">
              <a:defRPr sz="20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Dermoscopic lesions can look similar even when their clinical risk differs. Reliable screening needs trained expertise, while access to specialists may be limited.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29087F-884A-45CF-A7CA-AF452F30A8BF}"/>
              </a:ext>
            </a:extLst>
          </p:cNvPr>
          <p:cNvSpPr>
            <a:spLocks noGrp="1"/>
          </p:cNvSpPr>
          <p:nvPr/>
        </p:nvSpPr>
        <p:spPr>
          <a:xfrm>
            <a:off x="6115050" y="1600200"/>
            <a:ext cx="28575" cy="3143250"/>
          </a:xfrm>
          <a:prstGeom prst="rect">
            <a:avLst/>
          </a:prstGeom>
          <a:solidFill>
            <a:srgbClr val="16B9C8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4ABF90-AEFB-4696-B7BE-B1D2CF79EC54}"/>
              </a:ext>
            </a:extLst>
          </p:cNvPr>
          <p:cNvSpPr>
            <a:spLocks noGrp="1"/>
          </p:cNvSpPr>
          <p:nvPr/>
        </p:nvSpPr>
        <p:spPr>
          <a:xfrm>
            <a:off x="6715125" y="1752600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667"/>
          </a:bodyPr>
          <a:lstStyle/>
          <a:p>
            <a:pPr algn="l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Project response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05028B-AC9E-48E7-914B-5820B2472592}"/>
              </a:ext>
            </a:extLst>
          </p:cNvPr>
          <p:cNvSpPr>
            <a:spLocks noGrp="1"/>
          </p:cNvSpPr>
          <p:nvPr/>
        </p:nvSpPr>
        <p:spPr>
          <a:xfrm>
            <a:off x="6715125" y="2324100"/>
            <a:ext cx="4000500" cy="1238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426"/>
          </a:bodyPr>
          <a:lstStyle/>
          <a:p>
            <a:pPr algn="l">
              <a:defRPr sz="18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 computer-vision model reviews lesion images consistently and highlights cases with higher predicted malignancy probability for further assessment.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23F21C-AAF6-4AB0-8C60-80DD97731B93}"/>
              </a:ext>
            </a:extLst>
          </p:cNvPr>
          <p:cNvSpPr>
            <a:spLocks noGrp="1"/>
          </p:cNvSpPr>
          <p:nvPr/>
        </p:nvSpPr>
        <p:spPr>
          <a:xfrm>
            <a:off x="6715125" y="4057650"/>
            <a:ext cx="40005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692"/>
          </a:bodyPr>
          <a:lstStyle/>
          <a:p>
            <a:pPr algn="l">
              <a:defRPr sz="1500" b="0" i="1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500" b="0" i="1">
                <a:solidFill>
                  <a:srgbClr val="5E728A"/>
                </a:solidFill>
                <a:latin typeface="Arial"/>
                <a:ea typeface="Arial"/>
                <a:cs typeface="Arial"/>
              </a:rPr>
              <a:t>The system supports screening research. It does not replace a dermatologist or a clinical diagnosis.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3B2971-1796-46E4-9013-4EB159862BCC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10820400" cy="9525"/>
          </a:xfrm>
          <a:prstGeom prst="rect">
            <a:avLst/>
          </a:prstGeom>
          <a:solidFill>
            <a:srgbClr val="D5E5E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3F292D-E780-44E4-A3CA-6D8C6EA8BA26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6953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DermaVision AI  |  Skin Lesion Classification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B3E7F9-C6A3-4251-8679-8C685FC688A6}"/>
              </a:ext>
            </a:extLst>
          </p:cNvPr>
          <p:cNvSpPr>
            <a:spLocks noGrp="1"/>
          </p:cNvSpPr>
          <p:nvPr/>
        </p:nvSpPr>
        <p:spPr>
          <a:xfrm>
            <a:off x="10934700" y="6591300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86186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A865241-D2E7-4DF0-BAC0-B31190B064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6B9C8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34B229-3A6A-40FB-B2DC-BD6C09EF3A39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Project objective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F0AADD-D55B-4FBC-BEE0-880659FA2FAB}"/>
              </a:ext>
            </a:extLst>
          </p:cNvPr>
          <p:cNvSpPr>
            <a:spLocks noGrp="1"/>
          </p:cNvSpPr>
          <p:nvPr/>
        </p:nvSpPr>
        <p:spPr>
          <a:xfrm>
            <a:off x="704850" y="990600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Classify dermoscopic images as benign or malignant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30C374-4CDF-4EE8-923C-8ED9F9594C43}"/>
              </a:ext>
            </a:extLst>
          </p:cNvPr>
          <p:cNvSpPr>
            <a:spLocks noGrp="1"/>
          </p:cNvSpPr>
          <p:nvPr/>
        </p:nvSpPr>
        <p:spPr>
          <a:xfrm>
            <a:off x="1047750" y="1952625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424"/>
          </a:bodyPr>
          <a:lstStyle/>
          <a:p>
            <a:pPr algn="ctr">
              <a:defRPr sz="1650" b="1">
                <a:solidFill>
                  <a:srgbClr val="16B9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B9C8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CFEC5A-C3CB-4C9A-A380-8B8C6B3F796C}"/>
              </a:ext>
            </a:extLst>
          </p:cNvPr>
          <p:cNvSpPr>
            <a:spLocks noGrp="1"/>
          </p:cNvSpPr>
          <p:nvPr/>
        </p:nvSpPr>
        <p:spPr>
          <a:xfrm>
            <a:off x="1000125" y="2524125"/>
            <a:ext cx="219075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21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Dermoscopic</a:t>
            </a:r>
          </a:p>
          <a:p>
            <a:pPr algn="ctr">
              <a:defRPr sz="21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skin image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6D09BF-8F0A-471B-802A-4801397EAE74}"/>
              </a:ext>
            </a:extLst>
          </p:cNvPr>
          <p:cNvSpPr>
            <a:spLocks noGrp="1"/>
          </p:cNvSpPr>
          <p:nvPr/>
        </p:nvSpPr>
        <p:spPr>
          <a:xfrm>
            <a:off x="4762500" y="1952625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424"/>
          </a:bodyPr>
          <a:lstStyle/>
          <a:p>
            <a:pPr algn="ctr">
              <a:defRPr sz="1650" b="1">
                <a:solidFill>
                  <a:srgbClr val="16B9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B9C8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954DDC-DDF5-49CF-A659-8D2F3A3B86EA}"/>
              </a:ext>
            </a:extLst>
          </p:cNvPr>
          <p:cNvSpPr>
            <a:spLocks noGrp="1"/>
          </p:cNvSpPr>
          <p:nvPr/>
        </p:nvSpPr>
        <p:spPr>
          <a:xfrm>
            <a:off x="4714875" y="2524125"/>
            <a:ext cx="219075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555"/>
          </a:bodyPr>
          <a:lstStyle/>
          <a:p>
            <a:pPr algn="ctr">
              <a:defRPr sz="21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ResNet50</a:t>
            </a:r>
          </a:p>
          <a:p>
            <a:pPr algn="ctr">
              <a:defRPr sz="21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transfer learning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E67B7-66CA-4914-8FE9-8919ED4C5F4D}"/>
              </a:ext>
            </a:extLst>
          </p:cNvPr>
          <p:cNvSpPr>
            <a:spLocks noGrp="1"/>
          </p:cNvSpPr>
          <p:nvPr/>
        </p:nvSpPr>
        <p:spPr>
          <a:xfrm>
            <a:off x="8524875" y="1952625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424"/>
          </a:bodyPr>
          <a:lstStyle/>
          <a:p>
            <a:pPr algn="ctr">
              <a:defRPr sz="1650" b="1">
                <a:solidFill>
                  <a:srgbClr val="16B9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B9C8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F4DDB4-091E-4E5C-A22B-63A2E3E69136}"/>
              </a:ext>
            </a:extLst>
          </p:cNvPr>
          <p:cNvSpPr>
            <a:spLocks noGrp="1"/>
          </p:cNvSpPr>
          <p:nvPr/>
        </p:nvSpPr>
        <p:spPr>
          <a:xfrm>
            <a:off x="8429625" y="2524125"/>
            <a:ext cx="238125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370"/>
          </a:bodyPr>
          <a:lstStyle/>
          <a:p>
            <a:pPr algn="ctr">
              <a:defRPr sz="21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Benign or</a:t>
            </a:r>
          </a:p>
          <a:p>
            <a:pPr algn="ctr">
              <a:defRPr sz="21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malignant probability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13C46B-AEEE-4E27-A009-65852465C71E}"/>
              </a:ext>
            </a:extLst>
          </p:cNvPr>
          <p:cNvSpPr>
            <a:spLocks noGrp="1"/>
          </p:cNvSpPr>
          <p:nvPr/>
        </p:nvSpPr>
        <p:spPr>
          <a:xfrm>
            <a:off x="3219450" y="2857500"/>
            <a:ext cx="1143000" cy="38100"/>
          </a:xfrm>
          <a:prstGeom prst="rect">
            <a:avLst/>
          </a:prstGeom>
          <a:solidFill>
            <a:srgbClr val="F2A83B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579E24-D880-4C28-B89E-DAFF34BB9E25}"/>
              </a:ext>
            </a:extLst>
          </p:cNvPr>
          <p:cNvSpPr>
            <a:spLocks noGrp="1"/>
          </p:cNvSpPr>
          <p:nvPr/>
        </p:nvSpPr>
        <p:spPr>
          <a:xfrm>
            <a:off x="6981825" y="2857500"/>
            <a:ext cx="1143000" cy="38100"/>
          </a:xfrm>
          <a:prstGeom prst="rect">
            <a:avLst/>
          </a:prstGeom>
          <a:solidFill>
            <a:srgbClr val="F2A83B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A4F64A-B120-4F80-BDED-2C7766EB28E0}"/>
              </a:ext>
            </a:extLst>
          </p:cNvPr>
          <p:cNvSpPr>
            <a:spLocks noGrp="1"/>
          </p:cNvSpPr>
          <p:nvPr/>
        </p:nvSpPr>
        <p:spPr>
          <a:xfrm>
            <a:off x="1714500" y="4476750"/>
            <a:ext cx="8763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756"/>
          </a:bodyPr>
          <a:lstStyle/>
          <a:p>
            <a:pPr algn="ctr">
              <a:defRPr sz="1800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The model combines feature extraction from a pre-trained visual network with a custom binary classifier.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5A1639-0D6C-4EF2-AB4A-37715A16B8EC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10820400" cy="9525"/>
          </a:xfrm>
          <a:prstGeom prst="rect">
            <a:avLst/>
          </a:prstGeom>
          <a:solidFill>
            <a:srgbClr val="D5E5E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43827F-EEB6-43AB-B158-7486C6854136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6953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DermaVision AI  |  Skin Lesion Classification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7894BD-2A26-4108-BEEC-6A85F49B4C88}"/>
              </a:ext>
            </a:extLst>
          </p:cNvPr>
          <p:cNvSpPr>
            <a:spLocks noGrp="1"/>
          </p:cNvSpPr>
          <p:nvPr/>
        </p:nvSpPr>
        <p:spPr>
          <a:xfrm>
            <a:off x="10934700" y="6591300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3222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0DB415E-C824-43E4-8972-97C6628C02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6B9C8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153DC7-A5E6-4656-B4ED-714E2E0A4590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ISIC 2019 dataset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08DD7F-48DB-4107-A6DD-695ACC585F19}"/>
              </a:ext>
            </a:extLst>
          </p:cNvPr>
          <p:cNvSpPr>
            <a:spLocks noGrp="1"/>
          </p:cNvSpPr>
          <p:nvPr/>
        </p:nvSpPr>
        <p:spPr>
          <a:xfrm>
            <a:off x="704850" y="990600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Image-level dataset preparation and integrity checks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14B44B-441F-4599-9C27-18703CFB94BC}"/>
              </a:ext>
            </a:extLst>
          </p:cNvPr>
          <p:cNvSpPr>
            <a:spLocks noGrp="1"/>
          </p:cNvSpPr>
          <p:nvPr/>
        </p:nvSpPr>
        <p:spPr>
          <a:xfrm>
            <a:off x="876300" y="16764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406"/>
          </a:bodyPr>
          <a:lstStyle/>
          <a:p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Source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F4CC05-CA89-465B-8C82-E8544BF1FC9F}"/>
              </a:ext>
            </a:extLst>
          </p:cNvPr>
          <p:cNvSpPr>
            <a:spLocks noGrp="1"/>
          </p:cNvSpPr>
          <p:nvPr/>
        </p:nvSpPr>
        <p:spPr>
          <a:xfrm>
            <a:off x="876300" y="2152650"/>
            <a:ext cx="4286250" cy="800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667"/>
          </a:bodyPr>
          <a:lstStyle/>
          <a:p>
            <a:pPr algn="l">
              <a:defRPr sz="18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25,331 labelled dermoscopic images</a:t>
            </a:r>
          </a:p>
          <a:p>
            <a:pPr algn="l">
              <a:defRPr sz="18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CSV diagnosis indicators and JPEG image files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6B2E33-26C2-480A-A185-433265B0BFAA}"/>
              </a:ext>
            </a:extLst>
          </p:cNvPr>
          <p:cNvSpPr>
            <a:spLocks noGrp="1"/>
          </p:cNvSpPr>
          <p:nvPr/>
        </p:nvSpPr>
        <p:spPr>
          <a:xfrm>
            <a:off x="6686550" y="16764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406"/>
          </a:bodyPr>
          <a:lstStyle/>
          <a:p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Data integrity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B70EB3-42DA-4626-B954-DB158818B051}"/>
              </a:ext>
            </a:extLst>
          </p:cNvPr>
          <p:cNvSpPr>
            <a:spLocks noGrp="1"/>
          </p:cNvSpPr>
          <p:nvPr/>
        </p:nvSpPr>
        <p:spPr>
          <a:xfrm>
            <a:off x="6686550" y="2152650"/>
            <a:ext cx="3238500" cy="1028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702"/>
          </a:bodyPr>
          <a:lstStyle/>
          <a:p>
            <a:pPr algn="l">
              <a:defRPr sz="18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Every image path was checked</a:t>
            </a:r>
          </a:p>
          <a:p>
            <a:pPr algn="l">
              <a:defRPr sz="18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25,331 images found</a:t>
            </a:r>
          </a:p>
          <a:p>
            <a:pPr algn="l">
              <a:defRPr sz="18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0 images missing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B6B7FC-A8EB-43E4-9914-84A16854E409}"/>
              </a:ext>
            </a:extLst>
          </p:cNvPr>
          <p:cNvSpPr>
            <a:spLocks noGrp="1"/>
          </p:cNvSpPr>
          <p:nvPr/>
        </p:nvSpPr>
        <p:spPr>
          <a:xfrm>
            <a:off x="876300" y="3924300"/>
            <a:ext cx="9563100" cy="9525"/>
          </a:xfrm>
          <a:prstGeom prst="rect">
            <a:avLst/>
          </a:prstGeom>
          <a:solidFill>
            <a:srgbClr val="D5E5E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5FFEEF-13C5-4CD4-A7CE-5C80B2167FEC}"/>
              </a:ext>
            </a:extLst>
          </p:cNvPr>
          <p:cNvSpPr>
            <a:spLocks noGrp="1"/>
          </p:cNvSpPr>
          <p:nvPr/>
        </p:nvSpPr>
        <p:spPr>
          <a:xfrm>
            <a:off x="876300" y="4400550"/>
            <a:ext cx="92392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The notebook creates a full file path for every image ID before model training begins. This prevents silent mismatches between labels and image files.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3C0793-BA68-4E8B-B006-60990C783387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10820400" cy="9525"/>
          </a:xfrm>
          <a:prstGeom prst="rect">
            <a:avLst/>
          </a:prstGeom>
          <a:solidFill>
            <a:srgbClr val="D5E5E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6B9AF7-9E66-44DC-BDB8-634DC65341B5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6953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DermaVision AI  |  Skin Lesion Classification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A6EC91-1D91-404C-BA4D-336C70B943F9}"/>
              </a:ext>
            </a:extLst>
          </p:cNvPr>
          <p:cNvSpPr>
            <a:spLocks noGrp="1"/>
          </p:cNvSpPr>
          <p:nvPr/>
        </p:nvSpPr>
        <p:spPr>
          <a:xfrm>
            <a:off x="10934700" y="6591300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15080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CC5E07B-A4F4-447A-8A04-E06C5A0913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6B9C8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D72032-A7AD-4369-AD8B-E369C4BC3F8D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Binary label design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48D3CF-939E-4BF1-9D41-A199374453BB}"/>
              </a:ext>
            </a:extLst>
          </p:cNvPr>
          <p:cNvSpPr>
            <a:spLocks noGrp="1"/>
          </p:cNvSpPr>
          <p:nvPr/>
        </p:nvSpPr>
        <p:spPr>
          <a:xfrm>
            <a:off x="704850" y="990600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Three diagnosis categories form the positive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5D0FE2-BAE7-434B-AF29-63C11C7634C9}"/>
              </a:ext>
            </a:extLst>
          </p:cNvPr>
          <p:cNvSpPr>
            <a:spLocks noGrp="1"/>
          </p:cNvSpPr>
          <p:nvPr/>
        </p:nvSpPr>
        <p:spPr>
          <a:xfrm>
            <a:off x="1000125" y="1790700"/>
            <a:ext cx="40957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556"/>
          </a:bodyPr>
          <a:lstStyle/>
          <a:p>
            <a:pPr algn="l">
              <a:defRPr sz="22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Malignant label = 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476C813-8294-4E5E-BFF8-263F45FD65F0}"/>
              </a:ext>
            </a:extLst>
          </p:cNvPr>
          <p:cNvSpPr>
            <a:spLocks noGrp="1"/>
          </p:cNvSpPr>
          <p:nvPr/>
        </p:nvSpPr>
        <p:spPr>
          <a:xfrm>
            <a:off x="1009650" y="2438400"/>
            <a:ext cx="1790700" cy="323850"/>
          </a:xfrm>
          <a:prstGeom prst="roundRect">
            <a:avLst>
              <a:gd name="adj" fmla="val 35294"/>
            </a:avLst>
          </a:prstGeom>
          <a:solidFill>
            <a:srgbClr val="16B9C8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8019F2-9925-45C3-9749-19EE7861A2A3}"/>
              </a:ext>
            </a:extLst>
          </p:cNvPr>
          <p:cNvSpPr>
            <a:spLocks noGrp="1"/>
          </p:cNvSpPr>
          <p:nvPr/>
        </p:nvSpPr>
        <p:spPr>
          <a:xfrm>
            <a:off x="1143000" y="2505075"/>
            <a:ext cx="15240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809"/>
          </a:bodyPr>
          <a:lstStyle/>
          <a:p>
            <a:pPr algn="ctr">
              <a:defRPr sz="10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Melanoma (MEL)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12A3E2B-9C28-48B9-8C31-4E0987D40CF3}"/>
              </a:ext>
            </a:extLst>
          </p:cNvPr>
          <p:cNvSpPr>
            <a:spLocks noGrp="1"/>
          </p:cNvSpPr>
          <p:nvPr/>
        </p:nvSpPr>
        <p:spPr>
          <a:xfrm>
            <a:off x="2971800" y="2438400"/>
            <a:ext cx="2381250" cy="323850"/>
          </a:xfrm>
          <a:prstGeom prst="roundRect">
            <a:avLst>
              <a:gd name="adj" fmla="val 35294"/>
            </a:avLst>
          </a:prstGeom>
          <a:solidFill>
            <a:srgbClr val="65E3E8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D4D383-4BC0-448A-B42E-BDC311AC39FD}"/>
              </a:ext>
            </a:extLst>
          </p:cNvPr>
          <p:cNvSpPr>
            <a:spLocks noGrp="1"/>
          </p:cNvSpPr>
          <p:nvPr/>
        </p:nvSpPr>
        <p:spPr>
          <a:xfrm>
            <a:off x="3105150" y="2505075"/>
            <a:ext cx="21145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809"/>
          </a:bodyPr>
          <a:lstStyle/>
          <a:p>
            <a:pPr algn="ctr">
              <a:defRPr sz="10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Basal cell carcinoma (BCC)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2B5D1F-1F47-42A2-BDFD-870E36E36406}"/>
              </a:ext>
            </a:extLst>
          </p:cNvPr>
          <p:cNvSpPr>
            <a:spLocks noGrp="1"/>
          </p:cNvSpPr>
          <p:nvPr/>
        </p:nvSpPr>
        <p:spPr>
          <a:xfrm>
            <a:off x="1009650" y="2952750"/>
            <a:ext cx="2857500" cy="323850"/>
          </a:xfrm>
          <a:prstGeom prst="roundRect">
            <a:avLst>
              <a:gd name="adj" fmla="val 35294"/>
            </a:avLst>
          </a:prstGeom>
          <a:solidFill>
            <a:srgbClr val="F2A83B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59383D-BEA1-40A8-9300-9AC3C2FC785A}"/>
              </a:ext>
            </a:extLst>
          </p:cNvPr>
          <p:cNvSpPr>
            <a:spLocks noGrp="1"/>
          </p:cNvSpPr>
          <p:nvPr/>
        </p:nvSpPr>
        <p:spPr>
          <a:xfrm>
            <a:off x="1143000" y="3019425"/>
            <a:ext cx="25908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809"/>
          </a:bodyPr>
          <a:lstStyle/>
          <a:p>
            <a:pPr algn="ctr">
              <a:defRPr sz="10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Squamous cell carcinoma (SCC)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5FBB8C-7CA3-414C-A145-0B19719F6D99}"/>
              </a:ext>
            </a:extLst>
          </p:cNvPr>
          <p:cNvSpPr>
            <a:spLocks noGrp="1"/>
          </p:cNvSpPr>
          <p:nvPr/>
        </p:nvSpPr>
        <p:spPr>
          <a:xfrm>
            <a:off x="7181850" y="1790700"/>
            <a:ext cx="3429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556"/>
          </a:bodyPr>
          <a:lstStyle/>
          <a:p>
            <a:pPr algn="l">
              <a:defRPr sz="22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Benign label = 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91E6CD-246D-459E-86CA-529A7ABD369E}"/>
              </a:ext>
            </a:extLst>
          </p:cNvPr>
          <p:cNvSpPr>
            <a:spLocks noGrp="1"/>
          </p:cNvSpPr>
          <p:nvPr/>
        </p:nvSpPr>
        <p:spPr>
          <a:xfrm>
            <a:off x="7191375" y="2552700"/>
            <a:ext cx="31432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9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All other categories</a:t>
            </a:r>
          </a:p>
          <a:p>
            <a:pPr algn="l">
              <a:defRPr sz="19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remaining in the CSV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D0DF80-6C49-4A87-8BA9-B57074DA03BD}"/>
              </a:ext>
            </a:extLst>
          </p:cNvPr>
          <p:cNvSpPr>
            <a:spLocks noGrp="1"/>
          </p:cNvSpPr>
          <p:nvPr/>
        </p:nvSpPr>
        <p:spPr>
          <a:xfrm>
            <a:off x="1009650" y="4114800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848"/>
          </a:bodyPr>
          <a:lstStyle/>
          <a:p>
            <a: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Class distribution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39A456-FAED-47F5-A5C9-7EC7258382C8}"/>
              </a:ext>
            </a:extLst>
          </p:cNvPr>
          <p:cNvSpPr>
            <a:spLocks noGrp="1"/>
          </p:cNvSpPr>
          <p:nvPr/>
        </p:nvSpPr>
        <p:spPr>
          <a:xfrm>
            <a:off x="1009650" y="4610100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722"/>
          </a:bodyPr>
          <a:lstStyle/>
          <a:p>
            <a:pPr algn="l">
              <a:defRPr sz="18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16,858 benign (66.55%)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649459-89B1-4122-88DE-6C15AEF08C6C}"/>
              </a:ext>
            </a:extLst>
          </p:cNvPr>
          <p:cNvSpPr>
            <a:spLocks noGrp="1"/>
          </p:cNvSpPr>
          <p:nvPr/>
        </p:nvSpPr>
        <p:spPr>
          <a:xfrm>
            <a:off x="4762500" y="4610100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722"/>
          </a:bodyPr>
          <a:lstStyle/>
          <a:p>
            <a:pPr algn="l">
              <a:defRPr sz="18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8,473 malignant (33.45%)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B3E81A-3A1D-4302-B3E7-24CC8F9725CA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10820400" cy="9525"/>
          </a:xfrm>
          <a:prstGeom prst="rect">
            <a:avLst/>
          </a:prstGeom>
          <a:solidFill>
            <a:srgbClr val="D5E5E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F4A3BE-C4E9-44B4-93D6-CD49BBF75B91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6953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DermaVision AI  |  Skin Lesion Classification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0F7EAA-30BF-4391-B9F7-0C26E19AA596}"/>
              </a:ext>
            </a:extLst>
          </p:cNvPr>
          <p:cNvSpPr>
            <a:spLocks noGrp="1"/>
          </p:cNvSpPr>
          <p:nvPr/>
        </p:nvSpPr>
        <p:spPr>
          <a:xfrm>
            <a:off x="10934700" y="6591300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80097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8806DC8-3D5C-4569-AE7A-61EAC76DC6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6B9C8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3CDE45-B60A-4A02-8668-7274127B81DA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Train, validation, and test split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CA1611-E3F7-458C-BD6B-C24861F3C3BD}"/>
              </a:ext>
            </a:extLst>
          </p:cNvPr>
          <p:cNvSpPr>
            <a:spLocks noGrp="1"/>
          </p:cNvSpPr>
          <p:nvPr/>
        </p:nvSpPr>
        <p:spPr>
          <a:xfrm>
            <a:off x="704850" y="990600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Stratified sampling preserves the class balance</a:t>
            </a:r>
          </a:p>
        </p:txBody>
      </p:sp>
      <p:graphicFrame>
        <p:nvGraphicFramePr>
          <p:cNvPr id="13" name="Table 12"/>
          <p:cNvGraphicFramePr/>
          <p:nvPr/>
        </p:nvGraphicFramePr>
        <p:xfrm>
          <a:off x="1276350" y="1790700"/>
          <a:ext cx="9525000" cy="2381250"/>
        </p:xfrm>
        <a:graphic>
          <a:graphicData uri="http://schemas.openxmlformats.org/drawingml/2006/table">
            <a:tbl>
              <a:tblPr firstRow="1" bandRow="1"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5313">
                <a:tc>
                  <a:txBody>
                    <a:bodyPr/>
                    <a:lstStyle/>
                    <a:p>
                      <a:r>
                        <a:t>Split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Images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Benign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Malignant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17,731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5,931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2,529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2,529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974133D-3A84-4FEB-A1FE-A01008A85045}"/>
              </a:ext>
            </a:extLst>
          </p:cNvPr>
          <p:cNvSpPr>
            <a:spLocks noGrp="1"/>
          </p:cNvSpPr>
          <p:nvPr/>
        </p:nvSpPr>
        <p:spPr>
          <a:xfrm>
            <a:off x="2381250" y="4810125"/>
            <a:ext cx="7429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026"/>
          </a:bodyPr>
          <a:lstStyle/>
          <a:p>
            <a:pPr algn="ctr">
              <a:defRPr sz="1950" b="1">
                <a:solidFill>
                  <a:srgbClr val="16B9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B9C8"/>
                </a:solidFill>
                <a:latin typeface="Arial"/>
                <a:ea typeface="Arial"/>
                <a:cs typeface="Arial"/>
              </a:rPr>
              <a:t>70% training  |  15% validation  |  15% test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F26BDA-AA05-4E1A-8A01-96561A23B55A}"/>
              </a:ext>
            </a:extLst>
          </p:cNvPr>
          <p:cNvSpPr>
            <a:spLocks noGrp="1"/>
          </p:cNvSpPr>
          <p:nvPr/>
        </p:nvSpPr>
        <p:spPr>
          <a:xfrm>
            <a:off x="2095500" y="5353050"/>
            <a:ext cx="8001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246"/>
          </a:bodyPr>
          <a:lstStyle/>
          <a:p>
            <a:pPr algn="ctr">
              <a:defRPr sz="14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Stratification keeps the malignant share at 33.45% in each split.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43E3CA-C5C5-4AD7-8A02-0E50A3EE394E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10820400" cy="9525"/>
          </a:xfrm>
          <a:prstGeom prst="rect">
            <a:avLst/>
          </a:prstGeom>
          <a:solidFill>
            <a:srgbClr val="D5E5E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0A824E-9BB4-4A67-8D00-B5BE6D5963BD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6953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DermaVision AI  |  Skin Lesion Classification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DEDB5F-9AFE-4BBC-B1C5-CB57BFC3BCF0}"/>
              </a:ext>
            </a:extLst>
          </p:cNvPr>
          <p:cNvSpPr>
            <a:spLocks noGrp="1"/>
          </p:cNvSpPr>
          <p:nvPr/>
        </p:nvSpPr>
        <p:spPr>
          <a:xfrm>
            <a:off x="10934700" y="6591300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88951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78EAD7F-373B-4416-B9A4-500B2EBD86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6B9C8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6F3045-4A3E-4920-A27E-C5C579F0D8F3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Image preprocessing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575A6B-8BFF-41C9-8A01-C74BAD17028D}"/>
              </a:ext>
            </a:extLst>
          </p:cNvPr>
          <p:cNvSpPr>
            <a:spLocks noGrp="1"/>
          </p:cNvSpPr>
          <p:nvPr/>
        </p:nvSpPr>
        <p:spPr>
          <a:xfrm>
            <a:off x="704850" y="990600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Transforms prepare images for ResNet50 while improving robustness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02DF7D-0693-42A0-9A38-2B5C1CA27531}"/>
              </a:ext>
            </a:extLst>
          </p:cNvPr>
          <p:cNvSpPr>
            <a:spLocks noGrp="1"/>
          </p:cNvSpPr>
          <p:nvPr/>
        </p:nvSpPr>
        <p:spPr>
          <a:xfrm>
            <a:off x="1047750" y="1666875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889"/>
          </a:bodyPr>
          <a:lstStyle/>
          <a:p>
            <a:pPr algn="l">
              <a:defRPr sz="1575" b="1">
                <a:solidFill>
                  <a:srgbClr val="16B9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B9C8"/>
                </a:solidFill>
                <a:latin typeface="Arial"/>
                <a:ea typeface="Arial"/>
                <a:cs typeface="Arial"/>
              </a:rPr>
              <a:t>Resize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8B4B6B-151A-4D6D-A2D5-6B601C417765}"/>
              </a:ext>
            </a:extLst>
          </p:cNvPr>
          <p:cNvSpPr>
            <a:spLocks noGrp="1"/>
          </p:cNvSpPr>
          <p:nvPr/>
        </p:nvSpPr>
        <p:spPr>
          <a:xfrm>
            <a:off x="3829050" y="1666875"/>
            <a:ext cx="66198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224 x 224 pixels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6E1CCF-34B0-4E07-9547-A7F72583914C}"/>
              </a:ext>
            </a:extLst>
          </p:cNvPr>
          <p:cNvSpPr>
            <a:spLocks noGrp="1"/>
          </p:cNvSpPr>
          <p:nvPr/>
        </p:nvSpPr>
        <p:spPr>
          <a:xfrm>
            <a:off x="1047750" y="2257425"/>
            <a:ext cx="9429750" cy="9525"/>
          </a:xfrm>
          <a:prstGeom prst="rect">
            <a:avLst/>
          </a:prstGeom>
          <a:solidFill>
            <a:srgbClr val="D5E5E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723DEF-133A-4771-9751-6E499160AF01}"/>
              </a:ext>
            </a:extLst>
          </p:cNvPr>
          <p:cNvSpPr>
            <a:spLocks noGrp="1"/>
          </p:cNvSpPr>
          <p:nvPr/>
        </p:nvSpPr>
        <p:spPr>
          <a:xfrm>
            <a:off x="1047750" y="2505075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889"/>
          </a:bodyPr>
          <a:lstStyle/>
          <a:p>
            <a:pPr algn="l">
              <a:defRPr sz="1575" b="1">
                <a:solidFill>
                  <a:srgbClr val="16B9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B9C8"/>
                </a:solidFill>
                <a:latin typeface="Arial"/>
                <a:ea typeface="Arial"/>
                <a:cs typeface="Arial"/>
              </a:rPr>
              <a:t>Training augmentation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CFC7D-39AC-4EB9-8FE1-7AA5158F20A8}"/>
              </a:ext>
            </a:extLst>
          </p:cNvPr>
          <p:cNvSpPr>
            <a:spLocks noGrp="1"/>
          </p:cNvSpPr>
          <p:nvPr/>
        </p:nvSpPr>
        <p:spPr>
          <a:xfrm>
            <a:off x="3829050" y="2505075"/>
            <a:ext cx="66198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Horizontal and vertical flips, rotation up to 20 degrees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1D731A-1C5F-4606-9529-DA65877EA0F0}"/>
              </a:ext>
            </a:extLst>
          </p:cNvPr>
          <p:cNvSpPr>
            <a:spLocks noGrp="1"/>
          </p:cNvSpPr>
          <p:nvPr/>
        </p:nvSpPr>
        <p:spPr>
          <a:xfrm>
            <a:off x="1047750" y="3095625"/>
            <a:ext cx="9429750" cy="9525"/>
          </a:xfrm>
          <a:prstGeom prst="rect">
            <a:avLst/>
          </a:prstGeom>
          <a:solidFill>
            <a:srgbClr val="D5E5E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AD3BB2-C9D9-43F0-995D-896F4992F541}"/>
              </a:ext>
            </a:extLst>
          </p:cNvPr>
          <p:cNvSpPr>
            <a:spLocks noGrp="1"/>
          </p:cNvSpPr>
          <p:nvPr/>
        </p:nvSpPr>
        <p:spPr>
          <a:xfrm>
            <a:off x="1047750" y="3343275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889"/>
          </a:bodyPr>
          <a:lstStyle/>
          <a:p>
            <a:pPr algn="l">
              <a:defRPr sz="1575" b="1">
                <a:solidFill>
                  <a:srgbClr val="16B9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B9C8"/>
                </a:solidFill>
                <a:latin typeface="Arial"/>
                <a:ea typeface="Arial"/>
                <a:cs typeface="Arial"/>
              </a:rPr>
              <a:t>Colour augmentation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03CA12-CDAD-4586-A211-108D69E6DECB}"/>
              </a:ext>
            </a:extLst>
          </p:cNvPr>
          <p:cNvSpPr>
            <a:spLocks noGrp="1"/>
          </p:cNvSpPr>
          <p:nvPr/>
        </p:nvSpPr>
        <p:spPr>
          <a:xfrm>
            <a:off x="3829050" y="3343275"/>
            <a:ext cx="66198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Brightness and contrast jitter of 0.2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22862E-68EB-49D3-9103-06004205909A}"/>
              </a:ext>
            </a:extLst>
          </p:cNvPr>
          <p:cNvSpPr>
            <a:spLocks noGrp="1"/>
          </p:cNvSpPr>
          <p:nvPr/>
        </p:nvSpPr>
        <p:spPr>
          <a:xfrm>
            <a:off x="1047750" y="3933825"/>
            <a:ext cx="9429750" cy="9525"/>
          </a:xfrm>
          <a:prstGeom prst="rect">
            <a:avLst/>
          </a:prstGeom>
          <a:solidFill>
            <a:srgbClr val="D5E5E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E22EAC-10F8-4B3B-8277-DC220935835F}"/>
              </a:ext>
            </a:extLst>
          </p:cNvPr>
          <p:cNvSpPr>
            <a:spLocks noGrp="1"/>
          </p:cNvSpPr>
          <p:nvPr/>
        </p:nvSpPr>
        <p:spPr>
          <a:xfrm>
            <a:off x="1047750" y="4181475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889"/>
          </a:bodyPr>
          <a:lstStyle/>
          <a:p>
            <a:pPr algn="l">
              <a:defRPr sz="1575" b="1">
                <a:solidFill>
                  <a:srgbClr val="16B9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B9C8"/>
                </a:solidFill>
                <a:latin typeface="Arial"/>
                <a:ea typeface="Arial"/>
                <a:cs typeface="Arial"/>
              </a:rPr>
              <a:t>Normalization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0A523D-0D39-40B4-831A-D415339B5C7C}"/>
              </a:ext>
            </a:extLst>
          </p:cNvPr>
          <p:cNvSpPr>
            <a:spLocks noGrp="1"/>
          </p:cNvSpPr>
          <p:nvPr/>
        </p:nvSpPr>
        <p:spPr>
          <a:xfrm>
            <a:off x="3829050" y="4181475"/>
            <a:ext cx="66198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ImageNet mean and standard deviation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108CA0-7CF7-412F-B64E-0F5A36D21091}"/>
              </a:ext>
            </a:extLst>
          </p:cNvPr>
          <p:cNvSpPr>
            <a:spLocks noGrp="1"/>
          </p:cNvSpPr>
          <p:nvPr/>
        </p:nvSpPr>
        <p:spPr>
          <a:xfrm>
            <a:off x="1047750" y="4772025"/>
            <a:ext cx="9429750" cy="9525"/>
          </a:xfrm>
          <a:prstGeom prst="rect">
            <a:avLst/>
          </a:prstGeom>
          <a:solidFill>
            <a:srgbClr val="D5E5E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A52D94-D905-4913-B38D-842F99B158F1}"/>
              </a:ext>
            </a:extLst>
          </p:cNvPr>
          <p:cNvSpPr>
            <a:spLocks noGrp="1"/>
          </p:cNvSpPr>
          <p:nvPr/>
        </p:nvSpPr>
        <p:spPr>
          <a:xfrm>
            <a:off x="1047750" y="5334000"/>
            <a:ext cx="9048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198"/>
          </a:bodyPr>
          <a:lstStyle/>
          <a:p>
            <a:pPr algn="l">
              <a:defRPr sz="1575" b="0" i="1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5E728A"/>
                </a:solidFill>
                <a:latin typeface="Arial"/>
                <a:ea typeface="Arial"/>
                <a:cs typeface="Arial"/>
              </a:rPr>
              <a:t>Validation and test images use deterministic preprocessing only, which keeps evaluation stable and comparable.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E6B5E9-FA40-42D1-B977-F73D95A47BF8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10820400" cy="9525"/>
          </a:xfrm>
          <a:prstGeom prst="rect">
            <a:avLst/>
          </a:prstGeom>
          <a:solidFill>
            <a:srgbClr val="D5E5E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6E896F-BA62-4907-8B5D-8EE3C9E70E60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6953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DermaVision AI  |  Skin Lesion Classification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A570EA8-9926-44E2-AD7D-78C4A0CD7628}"/>
              </a:ext>
            </a:extLst>
          </p:cNvPr>
          <p:cNvSpPr>
            <a:spLocks noGrp="1"/>
          </p:cNvSpPr>
          <p:nvPr/>
        </p:nvSpPr>
        <p:spPr>
          <a:xfrm>
            <a:off x="10934700" y="6591300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36759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61AC934-5931-4A3F-8A69-FA359E72D4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6B9C8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F1E3D9-84ED-4326-AAAA-43FF1850362C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Handling class imbalance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2F70E-C659-4F22-B6D4-0B579E69C7FC}"/>
              </a:ext>
            </a:extLst>
          </p:cNvPr>
          <p:cNvSpPr>
            <a:spLocks noGrp="1"/>
          </p:cNvSpPr>
          <p:nvPr/>
        </p:nvSpPr>
        <p:spPr>
          <a:xfrm>
            <a:off x="704850" y="990600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WeightedRandomSampler increases malignant-image exposure during training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C9A4B2-86A3-4E8C-B8A7-05BE1F33F62D}"/>
              </a:ext>
            </a:extLst>
          </p:cNvPr>
          <p:cNvSpPr>
            <a:spLocks noGrp="1"/>
          </p:cNvSpPr>
          <p:nvPr/>
        </p:nvSpPr>
        <p:spPr>
          <a:xfrm>
            <a:off x="1028700" y="1905000"/>
            <a:ext cx="2714625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889"/>
          </a:bodyPr>
          <a:lstStyle/>
          <a:p>
            <a:pPr algn="l">
              <a:defRPr sz="2700" b="1">
                <a:solidFill>
                  <a:srgbClr val="16B9C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B9C8"/>
                </a:solidFill>
                <a:latin typeface="Arial"/>
                <a:ea typeface="Arial"/>
                <a:cs typeface="Arial"/>
              </a:rPr>
              <a:t>11,800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5A8437-3F5E-44E0-B89D-4B106D8E36D4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271462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benign training images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A41961-DAC5-43D9-8296-C2C5CE94F880}"/>
              </a:ext>
            </a:extLst>
          </p:cNvPr>
          <p:cNvSpPr>
            <a:spLocks noGrp="1"/>
          </p:cNvSpPr>
          <p:nvPr/>
        </p:nvSpPr>
        <p:spPr>
          <a:xfrm>
            <a:off x="6648450" y="1905000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889"/>
          </a:bodyPr>
          <a:lstStyle/>
          <a:p>
            <a:pPr algn="l">
              <a:defRPr sz="2700" b="1">
                <a:solidFill>
                  <a:srgbClr val="F2A83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2A83B"/>
                </a:solidFill>
                <a:latin typeface="Arial"/>
                <a:ea typeface="Arial"/>
                <a:cs typeface="Arial"/>
              </a:rPr>
              <a:t>5,931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0AE00D-FF09-46AE-BC65-6ACD0C561DD9}"/>
              </a:ext>
            </a:extLst>
          </p:cNvPr>
          <p:cNvSpPr>
            <a:spLocks noGrp="1"/>
          </p:cNvSpPr>
          <p:nvPr/>
        </p:nvSpPr>
        <p:spPr>
          <a:xfrm>
            <a:off x="6648450" y="2400300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malignant training images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81C1CB-EAC3-40AB-990E-2D6786D5F211}"/>
              </a:ext>
            </a:extLst>
          </p:cNvPr>
          <p:cNvSpPr>
            <a:spLocks noGrp="1"/>
          </p:cNvSpPr>
          <p:nvPr/>
        </p:nvSpPr>
        <p:spPr>
          <a:xfrm>
            <a:off x="4667250" y="1838325"/>
            <a:ext cx="19050" cy="1733550"/>
          </a:xfrm>
          <a:prstGeom prst="rect">
            <a:avLst/>
          </a:prstGeom>
          <a:solidFill>
            <a:srgbClr val="D5E5E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F0AC80-76AC-4C79-B5EB-F7EC0321E0F5}"/>
              </a:ext>
            </a:extLst>
          </p:cNvPr>
          <p:cNvSpPr>
            <a:spLocks noGrp="1"/>
          </p:cNvSpPr>
          <p:nvPr/>
        </p:nvSpPr>
        <p:spPr>
          <a:xfrm>
            <a:off x="1047750" y="4238625"/>
            <a:ext cx="9048750" cy="838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8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Each sample receives the inverse of its class frequency as a weight. Sampling with replacement makes the expected training distribution closer to balanced.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15A8C6-F5D2-4FF5-B936-5F8F74EB6115}"/>
              </a:ext>
            </a:extLst>
          </p:cNvPr>
          <p:cNvSpPr>
            <a:spLocks noGrp="1"/>
          </p:cNvSpPr>
          <p:nvPr/>
        </p:nvSpPr>
        <p:spPr>
          <a:xfrm>
            <a:off x="1047750" y="5381625"/>
            <a:ext cx="90487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47"/>
          </a:bodyPr>
          <a:lstStyle/>
          <a:p>
            <a:pPr algn="l">
              <a:defRPr sz="1500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Benefit: the model sees malignant examples more often. Trade-off: some images can appear more than once in an epoch.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DF5E9E-32EA-4158-96F9-07AEE60E04C9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10820400" cy="9525"/>
          </a:xfrm>
          <a:prstGeom prst="rect">
            <a:avLst/>
          </a:prstGeom>
          <a:solidFill>
            <a:srgbClr val="D5E5E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C0E84D-BFC5-4846-BD54-DFB186515772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6953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DermaVision AI  |  Skin Lesion Classification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16779E-E6AD-4872-B24E-EE2A6B0507AD}"/>
              </a:ext>
            </a:extLst>
          </p:cNvPr>
          <p:cNvSpPr>
            <a:spLocks noGrp="1"/>
          </p:cNvSpPr>
          <p:nvPr/>
        </p:nvSpPr>
        <p:spPr>
          <a:xfrm>
            <a:off x="10934700" y="6591300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84018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DF056A8-9E08-496B-ACDD-203EB81DE8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6B9C8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322A94-004F-486B-82D3-BC8C48D47C6F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Model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5417B2-ACB4-435B-9C72-A651495A252F}"/>
              </a:ext>
            </a:extLst>
          </p:cNvPr>
          <p:cNvSpPr>
            <a:spLocks noGrp="1"/>
          </p:cNvSpPr>
          <p:nvPr/>
        </p:nvSpPr>
        <p:spPr>
          <a:xfrm>
            <a:off x="704850" y="990600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Pre-trained ResNet50 with a custom binary classifier head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DE8C4F-001A-453F-AAC3-142FE949FEC4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29527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000"/>
          </a:bodyPr>
          <a:lstStyle/>
          <a:p>
            <a: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ResNet50 backbone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16DA24-EFF9-4778-B656-B5052B78AB0F}"/>
              </a:ext>
            </a:extLst>
          </p:cNvPr>
          <p:cNvSpPr>
            <a:spLocks noGrp="1"/>
          </p:cNvSpPr>
          <p:nvPr/>
        </p:nvSpPr>
        <p:spPr>
          <a:xfrm>
            <a:off x="952500" y="2381250"/>
            <a:ext cx="31432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8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ImageNet</a:t>
            </a:r>
          </a:p>
          <a:p>
            <a:pPr algn="ctr">
              <a:defRPr sz="18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pre-trained features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1F0922-CA77-4C6D-B9C4-2B51881113E4}"/>
              </a:ext>
            </a:extLst>
          </p:cNvPr>
          <p:cNvSpPr>
            <a:spLocks noGrp="1"/>
          </p:cNvSpPr>
          <p:nvPr/>
        </p:nvSpPr>
        <p:spPr>
          <a:xfrm>
            <a:off x="4286250" y="2667000"/>
            <a:ext cx="952500" cy="38100"/>
          </a:xfrm>
          <a:prstGeom prst="rect">
            <a:avLst/>
          </a:prstGeom>
          <a:solidFill>
            <a:srgbClr val="16B9C8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0F15C2-C52E-4D1F-A447-A387FC65496B}"/>
              </a:ext>
            </a:extLst>
          </p:cNvPr>
          <p:cNvSpPr>
            <a:spLocks noGrp="1"/>
          </p:cNvSpPr>
          <p:nvPr/>
        </p:nvSpPr>
        <p:spPr>
          <a:xfrm>
            <a:off x="5524500" y="1809750"/>
            <a:ext cx="24765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000"/>
          </a:bodyPr>
          <a:lstStyle/>
          <a:p>
            <a: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Custom head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8CF6BA-86A4-4E49-B541-F386D9C16A92}"/>
              </a:ext>
            </a:extLst>
          </p:cNvPr>
          <p:cNvSpPr>
            <a:spLocks noGrp="1"/>
          </p:cNvSpPr>
          <p:nvPr/>
        </p:nvSpPr>
        <p:spPr>
          <a:xfrm>
            <a:off x="5238750" y="2381250"/>
            <a:ext cx="30480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8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2048 → 512 → 128 → 1</a:t>
            </a:r>
          </a:p>
          <a:p>
            <a:pPr algn="ctr">
              <a:defRPr sz="18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ReLU + Dropout 0.23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CE5F81-0C16-4366-BC59-395CACB6F9B7}"/>
              </a:ext>
            </a:extLst>
          </p:cNvPr>
          <p:cNvSpPr>
            <a:spLocks noGrp="1"/>
          </p:cNvSpPr>
          <p:nvPr/>
        </p:nvSpPr>
        <p:spPr>
          <a:xfrm>
            <a:off x="8334375" y="2667000"/>
            <a:ext cx="952500" cy="38100"/>
          </a:xfrm>
          <a:prstGeom prst="rect">
            <a:avLst/>
          </a:prstGeom>
          <a:solidFill>
            <a:srgbClr val="F2A83B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904835-E207-44A5-BB57-75B61A989808}"/>
              </a:ext>
            </a:extLst>
          </p:cNvPr>
          <p:cNvSpPr>
            <a:spLocks noGrp="1"/>
          </p:cNvSpPr>
          <p:nvPr/>
        </p:nvSpPr>
        <p:spPr>
          <a:xfrm>
            <a:off x="9572625" y="180975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000"/>
          </a:bodyPr>
          <a:lstStyle/>
          <a:p>
            <a: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Binary 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5987F5-8BE0-4EE9-B18A-549CF30720D4}"/>
              </a:ext>
            </a:extLst>
          </p:cNvPr>
          <p:cNvSpPr>
            <a:spLocks noGrp="1"/>
          </p:cNvSpPr>
          <p:nvPr/>
        </p:nvSpPr>
        <p:spPr>
          <a:xfrm>
            <a:off x="9334500" y="2381250"/>
            <a:ext cx="23812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274"/>
          </a:bodyPr>
          <a:lstStyle/>
          <a:p>
            <a:pPr algn="ctr">
              <a:defRPr sz="18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One logit</a:t>
            </a:r>
          </a:p>
          <a:p>
            <a:pPr algn="ctr">
              <a:defRPr sz="18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converted to probability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7B2A59-9ED0-419C-9754-7CFDCA975000}"/>
              </a:ext>
            </a:extLst>
          </p:cNvPr>
          <p:cNvSpPr>
            <a:spLocks noGrp="1"/>
          </p:cNvSpPr>
          <p:nvPr/>
        </p:nvSpPr>
        <p:spPr>
          <a:xfrm>
            <a:off x="1381125" y="4457700"/>
            <a:ext cx="9144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188"/>
          </a:bodyPr>
          <a:lstStyle/>
          <a:p>
            <a:pPr algn="ctr">
              <a:defRPr sz="17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The pre-trained backbone supplies general visual features. The added head adapts those features to the lesion-classification task.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258D5F-2780-475D-85E4-0CF9CEAA9ED1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10820400" cy="9525"/>
          </a:xfrm>
          <a:prstGeom prst="rect">
            <a:avLst/>
          </a:prstGeom>
          <a:solidFill>
            <a:srgbClr val="D5E5E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670698-C821-46FC-B74C-F5CED7D18F37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6953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DermaVision AI  |  Skin Lesion Classification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0F65F2-85A3-4F82-9C31-5DC096F76F94}"/>
              </a:ext>
            </a:extLst>
          </p:cNvPr>
          <p:cNvSpPr>
            <a:spLocks noGrp="1"/>
          </p:cNvSpPr>
          <p:nvPr/>
        </p:nvSpPr>
        <p:spPr>
          <a:xfrm>
            <a:off x="10934700" y="6591300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05229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52BF218-F8BF-4221-AE67-127B22B8ED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6B9C8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D6F342-39C2-43BE-8F5E-EF65B22426AC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Two-stage transfer learning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1F4A26-4BB1-45E3-90A4-552CB967EED2}"/>
              </a:ext>
            </a:extLst>
          </p:cNvPr>
          <p:cNvSpPr>
            <a:spLocks noGrp="1"/>
          </p:cNvSpPr>
          <p:nvPr/>
        </p:nvSpPr>
        <p:spPr>
          <a:xfrm>
            <a:off x="704850" y="990600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A controlled path from general visual features to lesion-specific learning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2EABA8-7AC6-45EE-B32C-7EF7F05C0FEB}"/>
              </a:ext>
            </a:extLst>
          </p:cNvPr>
          <p:cNvSpPr>
            <a:spLocks noGrp="1"/>
          </p:cNvSpPr>
          <p:nvPr/>
        </p:nvSpPr>
        <p:spPr>
          <a:xfrm>
            <a:off x="1371600" y="1809750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444"/>
          </a:bodyPr>
          <a:lstStyle/>
          <a:p>
            <a:pPr algn="ctr">
              <a:defRPr sz="2250" b="1">
                <a:solidFill>
                  <a:srgbClr val="16B9C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B9C8"/>
                </a:solidFill>
                <a:latin typeface="Arial"/>
                <a:ea typeface="Arial"/>
                <a:cs typeface="Arial"/>
              </a:rPr>
              <a:t>Stage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AF3C92-F3DA-41E1-AE35-5C7BBBDB01EB}"/>
              </a:ext>
            </a:extLst>
          </p:cNvPr>
          <p:cNvSpPr>
            <a:spLocks noGrp="1"/>
          </p:cNvSpPr>
          <p:nvPr/>
        </p:nvSpPr>
        <p:spPr>
          <a:xfrm>
            <a:off x="1047750" y="2400300"/>
            <a:ext cx="295275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820"/>
          </a:bodyPr>
          <a:lstStyle/>
          <a:p>
            <a:pPr algn="ctr">
              <a:defRPr sz="17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Freeze ResNet50</a:t>
            </a:r>
          </a:p>
          <a:p>
            <a:pPr algn="ctr">
              <a:defRPr sz="17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Train the new classifier head</a:t>
            </a:r>
          </a:p>
          <a:p>
            <a:pPr algn="ctr">
              <a:defRPr sz="17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5 epochs at learning rate 0.001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1D7AB9-68FE-4A77-BAEA-D0D3133B233B}"/>
              </a:ext>
            </a:extLst>
          </p:cNvPr>
          <p:cNvSpPr>
            <a:spLocks noGrp="1"/>
          </p:cNvSpPr>
          <p:nvPr/>
        </p:nvSpPr>
        <p:spPr>
          <a:xfrm>
            <a:off x="4429125" y="2809875"/>
            <a:ext cx="1095375" cy="38100"/>
          </a:xfrm>
          <a:prstGeom prst="rect">
            <a:avLst/>
          </a:prstGeom>
          <a:solidFill>
            <a:srgbClr val="F2A83B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4CC3A1-C182-4F81-B370-392C23F06D68}"/>
              </a:ext>
            </a:extLst>
          </p:cNvPr>
          <p:cNvSpPr>
            <a:spLocks noGrp="1"/>
          </p:cNvSpPr>
          <p:nvPr/>
        </p:nvSpPr>
        <p:spPr>
          <a:xfrm>
            <a:off x="7620000" y="1809750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444"/>
          </a:bodyPr>
          <a:lstStyle/>
          <a:p>
            <a:pPr algn="ctr">
              <a:defRPr sz="2250" b="1">
                <a:solidFill>
                  <a:srgbClr val="16B9C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B9C8"/>
                </a:solidFill>
                <a:latin typeface="Arial"/>
                <a:ea typeface="Arial"/>
                <a:cs typeface="Arial"/>
              </a:rPr>
              <a:t>Stage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027528-E7E0-4CD3-B715-655B44CEB7E1}"/>
              </a:ext>
            </a:extLst>
          </p:cNvPr>
          <p:cNvSpPr>
            <a:spLocks noGrp="1"/>
          </p:cNvSpPr>
          <p:nvPr/>
        </p:nvSpPr>
        <p:spPr>
          <a:xfrm>
            <a:off x="7048500" y="2400300"/>
            <a:ext cx="352425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7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Unfreeze layer3, layer4, and head</a:t>
            </a:r>
          </a:p>
          <a:p>
            <a:pPr algn="ctr">
              <a:defRPr sz="17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Fine-tune for 12 epochs</a:t>
            </a:r>
          </a:p>
          <a:p>
            <a:pPr algn="ctr">
              <a:defRPr sz="17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Learning rate 0.0003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744C4F-5DE2-4568-83DD-9DFDB93841C1}"/>
              </a:ext>
            </a:extLst>
          </p:cNvPr>
          <p:cNvSpPr>
            <a:spLocks noGrp="1"/>
          </p:cNvSpPr>
          <p:nvPr/>
        </p:nvSpPr>
        <p:spPr>
          <a:xfrm>
            <a:off x="1476375" y="4714875"/>
            <a:ext cx="91440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265"/>
          </a:bodyPr>
          <a:lstStyle/>
          <a:p>
            <a:pPr algn="ctr">
              <a:defRPr sz="18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Validation AUC rose from 0.8604 at the end of Stage 1 to 0.9418 by the final Stage 2 epoch.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D6EF73-55BF-45C1-B695-99AF26800B09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10820400" cy="9525"/>
          </a:xfrm>
          <a:prstGeom prst="rect">
            <a:avLst/>
          </a:prstGeom>
          <a:solidFill>
            <a:srgbClr val="D5E5E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214E1C-75FF-45F5-9145-BC353E96822B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6953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DermaVision AI  |  Skin Lesion Classification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69E2F0-06AB-4E84-B348-6E32212F2702}"/>
              </a:ext>
            </a:extLst>
          </p:cNvPr>
          <p:cNvSpPr>
            <a:spLocks noGrp="1"/>
          </p:cNvSpPr>
          <p:nvPr/>
        </p:nvSpPr>
        <p:spPr>
          <a:xfrm>
            <a:off x="10934700" y="6591300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03203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CE367A8-0954-4F96-A7F3-A0F941ADCF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6B9C8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B2F1C1-DDF4-4326-844F-0B5A15583CB8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Training configuration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1039B0-DAC4-4E0A-ACA2-AC9EDD34A358}"/>
              </a:ext>
            </a:extLst>
          </p:cNvPr>
          <p:cNvSpPr>
            <a:spLocks noGrp="1"/>
          </p:cNvSpPr>
          <p:nvPr/>
        </p:nvSpPr>
        <p:spPr>
          <a:xfrm>
            <a:off x="704850" y="990600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Core choices for efficient and regularized learning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D83404-B2C3-4DD3-9C40-F8820C7C6551}"/>
              </a:ext>
            </a:extLst>
          </p:cNvPr>
          <p:cNvSpPr>
            <a:spLocks noGrp="1"/>
          </p:cNvSpPr>
          <p:nvPr/>
        </p:nvSpPr>
        <p:spPr>
          <a:xfrm>
            <a:off x="971550" y="1666875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000"/>
          </a:bodyPr>
          <a:lstStyle/>
          <a:p>
            <a:pPr algn="l">
              <a:defRPr sz="1500" b="1">
                <a:solidFill>
                  <a:srgbClr val="16B9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B9C8"/>
                </a:solidFill>
                <a:latin typeface="Arial"/>
                <a:ea typeface="Arial"/>
                <a:cs typeface="Arial"/>
              </a:rPr>
              <a:t>Loss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9BDAC3-6C82-4D02-967A-31704F9A3F48}"/>
              </a:ext>
            </a:extLst>
          </p:cNvPr>
          <p:cNvSpPr>
            <a:spLocks noGrp="1"/>
          </p:cNvSpPr>
          <p:nvPr/>
        </p:nvSpPr>
        <p:spPr>
          <a:xfrm>
            <a:off x="971550" y="2047875"/>
            <a:ext cx="40005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BCEWithLogitsLoss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AAF987-6677-4DE2-A91D-3FF25E102CE9}"/>
              </a:ext>
            </a:extLst>
          </p:cNvPr>
          <p:cNvSpPr>
            <a:spLocks noGrp="1"/>
          </p:cNvSpPr>
          <p:nvPr/>
        </p:nvSpPr>
        <p:spPr>
          <a:xfrm>
            <a:off x="6305550" y="1666875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000"/>
          </a:bodyPr>
          <a:lstStyle/>
          <a:p>
            <a:pPr algn="l">
              <a:defRPr sz="1500" b="1">
                <a:solidFill>
                  <a:srgbClr val="16B9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B9C8"/>
                </a:solidFill>
                <a:latin typeface="Arial"/>
                <a:ea typeface="Arial"/>
                <a:cs typeface="Arial"/>
              </a:rPr>
              <a:t>Optimizer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C67E70-1AA5-4231-BA13-6F47F64BA451}"/>
              </a:ext>
            </a:extLst>
          </p:cNvPr>
          <p:cNvSpPr>
            <a:spLocks noGrp="1"/>
          </p:cNvSpPr>
          <p:nvPr/>
        </p:nvSpPr>
        <p:spPr>
          <a:xfrm>
            <a:off x="6305550" y="2047875"/>
            <a:ext cx="40005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AdamW with weight decay 1e-4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C402E8-29AD-4263-85C8-E40A25685ECA}"/>
              </a:ext>
            </a:extLst>
          </p:cNvPr>
          <p:cNvSpPr>
            <a:spLocks noGrp="1"/>
          </p:cNvSpPr>
          <p:nvPr/>
        </p:nvSpPr>
        <p:spPr>
          <a:xfrm>
            <a:off x="971550" y="2790825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000"/>
          </a:bodyPr>
          <a:lstStyle/>
          <a:p>
            <a:pPr algn="l">
              <a:defRPr sz="1500" b="1">
                <a:solidFill>
                  <a:srgbClr val="16B9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B9C8"/>
                </a:solidFill>
                <a:latin typeface="Arial"/>
                <a:ea typeface="Arial"/>
                <a:cs typeface="Arial"/>
              </a:rPr>
              <a:t>Regularization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C19C88-F3B8-46EF-B5F7-196CA274CB72}"/>
              </a:ext>
            </a:extLst>
          </p:cNvPr>
          <p:cNvSpPr>
            <a:spLocks noGrp="1"/>
          </p:cNvSpPr>
          <p:nvPr/>
        </p:nvSpPr>
        <p:spPr>
          <a:xfrm>
            <a:off x="971550" y="3171825"/>
            <a:ext cx="40005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Dropout 0.23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996BB1-AD70-4588-B840-5FC41B3D2DC4}"/>
              </a:ext>
            </a:extLst>
          </p:cNvPr>
          <p:cNvSpPr>
            <a:spLocks noGrp="1"/>
          </p:cNvSpPr>
          <p:nvPr/>
        </p:nvSpPr>
        <p:spPr>
          <a:xfrm>
            <a:off x="6305550" y="2790825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000"/>
          </a:bodyPr>
          <a:lstStyle/>
          <a:p>
            <a:pPr algn="l">
              <a:defRPr sz="1500" b="1">
                <a:solidFill>
                  <a:srgbClr val="16B9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B9C8"/>
                </a:solidFill>
                <a:latin typeface="Arial"/>
                <a:ea typeface="Arial"/>
                <a:cs typeface="Arial"/>
              </a:rPr>
              <a:t>Scheduler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3294E6-6924-45B3-8C94-5644CAC248C8}"/>
              </a:ext>
            </a:extLst>
          </p:cNvPr>
          <p:cNvSpPr>
            <a:spLocks noGrp="1"/>
          </p:cNvSpPr>
          <p:nvPr/>
        </p:nvSpPr>
        <p:spPr>
          <a:xfrm>
            <a:off x="6305550" y="3171825"/>
            <a:ext cx="40005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ReduceLROnPlateau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DB8B4E-8453-4428-AA64-0AC790BF69B0}"/>
              </a:ext>
            </a:extLst>
          </p:cNvPr>
          <p:cNvSpPr>
            <a:spLocks noGrp="1"/>
          </p:cNvSpPr>
          <p:nvPr/>
        </p:nvSpPr>
        <p:spPr>
          <a:xfrm>
            <a:off x="971550" y="3914775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000"/>
          </a:bodyPr>
          <a:lstStyle/>
          <a:p>
            <a:pPr algn="l">
              <a:defRPr sz="1500" b="1">
                <a:solidFill>
                  <a:srgbClr val="16B9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B9C8"/>
                </a:solidFill>
                <a:latin typeface="Arial"/>
                <a:ea typeface="Arial"/>
                <a:cs typeface="Arial"/>
              </a:rPr>
              <a:t>Early stopping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BB72F0-6888-4B89-B523-64884EF35993}"/>
              </a:ext>
            </a:extLst>
          </p:cNvPr>
          <p:cNvSpPr>
            <a:spLocks noGrp="1"/>
          </p:cNvSpPr>
          <p:nvPr/>
        </p:nvSpPr>
        <p:spPr>
          <a:xfrm>
            <a:off x="971550" y="4295775"/>
            <a:ext cx="40005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Patience of 5 epochs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FC5B56-5492-4B92-A30D-8CE440C80E6F}"/>
              </a:ext>
            </a:extLst>
          </p:cNvPr>
          <p:cNvSpPr>
            <a:spLocks noGrp="1"/>
          </p:cNvSpPr>
          <p:nvPr/>
        </p:nvSpPr>
        <p:spPr>
          <a:xfrm>
            <a:off x="6305550" y="3914775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000"/>
          </a:bodyPr>
          <a:lstStyle/>
          <a:p>
            <a:pPr algn="l">
              <a:defRPr sz="1500" b="1">
                <a:solidFill>
                  <a:srgbClr val="16B9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B9C8"/>
                </a:solidFill>
                <a:latin typeface="Arial"/>
                <a:ea typeface="Arial"/>
                <a:cs typeface="Arial"/>
              </a:rPr>
              <a:t>Batch size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EDC0E0-E61F-4184-A076-66C0AAD8E198}"/>
              </a:ext>
            </a:extLst>
          </p:cNvPr>
          <p:cNvSpPr>
            <a:spLocks noGrp="1"/>
          </p:cNvSpPr>
          <p:nvPr/>
        </p:nvSpPr>
        <p:spPr>
          <a:xfrm>
            <a:off x="6305550" y="4295775"/>
            <a:ext cx="40005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64 images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6C63D9-3648-4184-AFEE-32462ED280C4}"/>
              </a:ext>
            </a:extLst>
          </p:cNvPr>
          <p:cNvSpPr>
            <a:spLocks noGrp="1"/>
          </p:cNvSpPr>
          <p:nvPr/>
        </p:nvSpPr>
        <p:spPr>
          <a:xfrm>
            <a:off x="971550" y="5381625"/>
            <a:ext cx="98107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517"/>
          </a:bodyPr>
          <a:lstStyle/>
          <a:p>
            <a:pPr algn="l">
              <a:defRPr sz="1500" b="0" i="1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500" b="0" i="1">
                <a:solidFill>
                  <a:srgbClr val="5E728A"/>
                </a:solidFill>
                <a:latin typeface="Arial"/>
                <a:ea typeface="Arial"/>
                <a:cs typeface="Arial"/>
              </a:rPr>
              <a:t>Automatic mixed precision, pinned memory, non-blocking transfers, and channels-last memory formatting improved GPU efficiency.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79D75B-042E-453B-A503-DB91131014D8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10820400" cy="9525"/>
          </a:xfrm>
          <a:prstGeom prst="rect">
            <a:avLst/>
          </a:prstGeom>
          <a:solidFill>
            <a:srgbClr val="D5E5E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B0D9AA-BC64-4BB1-B340-C02AE5EA5A8F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6953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DermaVision AI  |  Skin Lesion Classification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71C83F-2C8B-4FC3-B5E9-D2259F5E35B1}"/>
              </a:ext>
            </a:extLst>
          </p:cNvPr>
          <p:cNvSpPr>
            <a:spLocks noGrp="1"/>
          </p:cNvSpPr>
          <p:nvPr/>
        </p:nvSpPr>
        <p:spPr>
          <a:xfrm>
            <a:off x="10934700" y="6591300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26480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D70C6FC-6D34-414A-8423-BCFB320224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6B9C8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700EC0-9C81-47BF-AE26-3E20F6A5980D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Evaluation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ACE421-0C6D-47EB-B845-A2E722DA7631}"/>
              </a:ext>
            </a:extLst>
          </p:cNvPr>
          <p:cNvSpPr>
            <a:spLocks noGrp="1"/>
          </p:cNvSpPr>
          <p:nvPr/>
        </p:nvSpPr>
        <p:spPr>
          <a:xfrm>
            <a:off x="704850" y="990600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Probability ranking and threshold-based classification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87F395-CAB0-46AB-A840-0D2A576238D4}"/>
              </a:ext>
            </a:extLst>
          </p:cNvPr>
          <p:cNvSpPr>
            <a:spLocks noGrp="1"/>
          </p:cNvSpPr>
          <p:nvPr/>
        </p:nvSpPr>
        <p:spPr>
          <a:xfrm>
            <a:off x="1190625" y="1809750"/>
            <a:ext cx="7239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333"/>
          </a:bodyPr>
          <a:lstStyle/>
          <a:p>
            <a:pPr algn="l">
              <a:defRPr sz="18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1. Run the final model on every test image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082285-8BBE-4AD3-87DD-E0A423F933CA}"/>
              </a:ext>
            </a:extLst>
          </p:cNvPr>
          <p:cNvSpPr>
            <a:spLocks noGrp="1"/>
          </p:cNvSpPr>
          <p:nvPr/>
        </p:nvSpPr>
        <p:spPr>
          <a:xfrm>
            <a:off x="1190625" y="2571750"/>
            <a:ext cx="7810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333"/>
          </a:bodyPr>
          <a:lstStyle/>
          <a:p>
            <a:pPr algn="l">
              <a:defRPr sz="18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2. Convert model logits into probabilities with sigmoid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2D36F3-CA5B-47BA-AEA3-37B9771F16E6}"/>
              </a:ext>
            </a:extLst>
          </p:cNvPr>
          <p:cNvSpPr>
            <a:spLocks noGrp="1"/>
          </p:cNvSpPr>
          <p:nvPr/>
        </p:nvSpPr>
        <p:spPr>
          <a:xfrm>
            <a:off x="1190625" y="3333750"/>
            <a:ext cx="7810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333"/>
          </a:bodyPr>
          <a:lstStyle/>
          <a:p>
            <a:pPr algn="l">
              <a:defRPr sz="18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3. Predict malignant when probability is at least 0.50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E95D5C-F2E6-4611-BA2F-61009DCA4D29}"/>
              </a:ext>
            </a:extLst>
          </p:cNvPr>
          <p:cNvSpPr>
            <a:spLocks noGrp="1"/>
          </p:cNvSpPr>
          <p:nvPr/>
        </p:nvSpPr>
        <p:spPr>
          <a:xfrm>
            <a:off x="1190625" y="4095750"/>
            <a:ext cx="8953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282"/>
          </a:bodyPr>
          <a:lstStyle/>
          <a:p>
            <a:pPr algn="l">
              <a:defRPr sz="18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4. Calculate ROC-AUC, accuracy, precision, recall, F1 score, specificity, and confusion matrix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169B01-8281-47DE-8441-D82C6F842CE3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57150" cy="3048000"/>
          </a:xfrm>
          <a:prstGeom prst="rect">
            <a:avLst/>
          </a:prstGeom>
          <a:solidFill>
            <a:srgbClr val="16B9C8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DE0998-79AA-4FCB-A2B9-6370E366F25D}"/>
              </a:ext>
            </a:extLst>
          </p:cNvPr>
          <p:cNvSpPr>
            <a:spLocks noGrp="1"/>
          </p:cNvSpPr>
          <p:nvPr/>
        </p:nvSpPr>
        <p:spPr>
          <a:xfrm>
            <a:off x="1190625" y="5381625"/>
            <a:ext cx="9429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211"/>
          </a:bodyPr>
          <a:lstStyle/>
          <a:p>
            <a:pPr algn="l">
              <a:defRPr sz="1425" b="0" i="1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425" b="0" i="1">
                <a:solidFill>
                  <a:srgbClr val="5E728A"/>
                </a:solidFill>
                <a:latin typeface="Arial"/>
                <a:ea typeface="Arial"/>
                <a:cs typeface="Arial"/>
              </a:rPr>
              <a:t>A 0.50 threshold is a conventional experimental choice. A future clinical workflow would choose the threshold from validation data and a defined safety objective.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E22CB2-4465-4697-B421-EFD53D6F7373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10820400" cy="9525"/>
          </a:xfrm>
          <a:prstGeom prst="rect">
            <a:avLst/>
          </a:prstGeom>
          <a:solidFill>
            <a:srgbClr val="D5E5E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10A320-CF2C-4E85-8ECA-26B28C03CC09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6953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DermaVision AI  |  Skin Lesion Classification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94235C-44D1-4698-A6D7-9E7F1C87A1BF}"/>
              </a:ext>
            </a:extLst>
          </p:cNvPr>
          <p:cNvSpPr>
            <a:spLocks noGrp="1"/>
          </p:cNvSpPr>
          <p:nvPr/>
        </p:nvSpPr>
        <p:spPr>
          <a:xfrm>
            <a:off x="10934700" y="6591300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51636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BC18F36-4BFB-4E2A-A01F-23B7D85568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6B9C8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CECE9F-10F2-4656-887C-170F73F22623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Training observations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BD46C9-3B70-46E6-8AD9-549D87628BD6}"/>
              </a:ext>
            </a:extLst>
          </p:cNvPr>
          <p:cNvSpPr>
            <a:spLocks noGrp="1"/>
          </p:cNvSpPr>
          <p:nvPr/>
        </p:nvSpPr>
        <p:spPr>
          <a:xfrm>
            <a:off x="704850" y="990600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Validation results improved during fine-tuning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7BD260-CAEC-403A-8DA0-67A3B8EB1EC2}"/>
              </a:ext>
            </a:extLst>
          </p:cNvPr>
          <p:cNvSpPr>
            <a:spLocks noGrp="1"/>
          </p:cNvSpPr>
          <p:nvPr/>
        </p:nvSpPr>
        <p:spPr>
          <a:xfrm>
            <a:off x="1181100" y="2000250"/>
            <a:ext cx="2857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889"/>
          </a:bodyPr>
          <a:lstStyle/>
          <a:p>
            <a:pPr algn="l">
              <a:defRPr sz="2700" b="1">
                <a:solidFill>
                  <a:srgbClr val="16B9C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B9C8"/>
                </a:solidFill>
                <a:latin typeface="Arial"/>
                <a:ea typeface="Arial"/>
                <a:cs typeface="Arial"/>
              </a:rPr>
              <a:t>0.4400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078AEE-2F95-440F-8867-E142F7AFAFA0}"/>
              </a:ext>
            </a:extLst>
          </p:cNvPr>
          <p:cNvSpPr>
            <a:spLocks noGrp="1"/>
          </p:cNvSpPr>
          <p:nvPr/>
        </p:nvSpPr>
        <p:spPr>
          <a:xfrm>
            <a:off x="1181100" y="24955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best Stage 1 validation loss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567540-C83E-4F16-9868-CFE5EE01744F}"/>
              </a:ext>
            </a:extLst>
          </p:cNvPr>
          <p:cNvSpPr>
            <a:spLocks noGrp="1"/>
          </p:cNvSpPr>
          <p:nvPr/>
        </p:nvSpPr>
        <p:spPr>
          <a:xfrm>
            <a:off x="4953000" y="2000250"/>
            <a:ext cx="3048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889"/>
          </a:bodyPr>
          <a:lstStyle/>
          <a:p>
            <a:pPr algn="l">
              <a:defRPr sz="2700" b="1">
                <a:solidFill>
                  <a:srgbClr val="F2A83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2A83B"/>
                </a:solidFill>
                <a:latin typeface="Arial"/>
                <a:ea typeface="Arial"/>
                <a:cs typeface="Arial"/>
              </a:rPr>
              <a:t>0.3775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D9B20-E58A-4917-B88B-E1945D12E6F8}"/>
              </a:ext>
            </a:extLst>
          </p:cNvPr>
          <p:cNvSpPr>
            <a:spLocks noGrp="1"/>
          </p:cNvSpPr>
          <p:nvPr/>
        </p:nvSpPr>
        <p:spPr>
          <a:xfrm>
            <a:off x="4953000" y="2495550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best Stage 2 validation loss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5C2C18-DCFF-42E5-BEBA-6CC1CAA8EDE0}"/>
              </a:ext>
            </a:extLst>
          </p:cNvPr>
          <p:cNvSpPr>
            <a:spLocks noGrp="1"/>
          </p:cNvSpPr>
          <p:nvPr/>
        </p:nvSpPr>
        <p:spPr>
          <a:xfrm>
            <a:off x="8782050" y="2000250"/>
            <a:ext cx="2381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889"/>
          </a:bodyPr>
          <a:lstStyle/>
          <a:p>
            <a:pPr algn="l">
              <a:defRPr sz="2700" b="1">
                <a:solidFill>
                  <a:srgbClr val="16B9C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B9C8"/>
                </a:solidFill>
                <a:latin typeface="Arial"/>
                <a:ea typeface="Arial"/>
                <a:cs typeface="Arial"/>
              </a:rPr>
              <a:t>0.9418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18E90A-C61F-4DCC-BADB-B20A3FE7243D}"/>
              </a:ext>
            </a:extLst>
          </p:cNvPr>
          <p:cNvSpPr>
            <a:spLocks noGrp="1"/>
          </p:cNvSpPr>
          <p:nvPr/>
        </p:nvSpPr>
        <p:spPr>
          <a:xfrm>
            <a:off x="8782050" y="24955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best validation AUC observed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AAA629-DCDA-46E3-941C-0E8809CD9062}"/>
              </a:ext>
            </a:extLst>
          </p:cNvPr>
          <p:cNvSpPr>
            <a:spLocks noGrp="1"/>
          </p:cNvSpPr>
          <p:nvPr/>
        </p:nvSpPr>
        <p:spPr>
          <a:xfrm>
            <a:off x="1181100" y="4191000"/>
            <a:ext cx="952500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667"/>
          </a:bodyPr>
          <a:lstStyle/>
          <a:p>
            <a:pPr algn="l">
              <a:defRPr sz="18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The best Stage 2 validation loss occurred at epoch 8. The final recorded validation AUC reached 0.9418 by epoch 12.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544FE6-22B6-418D-AA29-843520475275}"/>
              </a:ext>
            </a:extLst>
          </p:cNvPr>
          <p:cNvSpPr>
            <a:spLocks noGrp="1"/>
          </p:cNvSpPr>
          <p:nvPr/>
        </p:nvSpPr>
        <p:spPr>
          <a:xfrm>
            <a:off x="1181100" y="5267325"/>
            <a:ext cx="9525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211"/>
          </a:bodyPr>
          <a:lstStyle/>
          <a:p>
            <a:pPr algn="l">
              <a:defRPr sz="1425" b="0" i="1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425" b="0" i="1">
                <a:solidFill>
                  <a:srgbClr val="5E728A"/>
                </a:solidFill>
                <a:latin typeface="Arial"/>
                <a:ea typeface="Arial"/>
                <a:cs typeface="Arial"/>
              </a:rPr>
              <a:t>Implementation note: Stage 1 scheduled on validation loss with mode='max'. A future rerun should use mode='min' or monitor validation AUC with mode='max'.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0B5656-66B1-4EBB-822C-48A99887463E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10820400" cy="9525"/>
          </a:xfrm>
          <a:prstGeom prst="rect">
            <a:avLst/>
          </a:prstGeom>
          <a:solidFill>
            <a:srgbClr val="D5E5E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0F098E-BDCB-4FBD-BC26-9C2214D1E4D4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6953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DermaVision AI  |  Skin Lesion Classification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556051-6F89-422A-A761-6FB8D7408606}"/>
              </a:ext>
            </a:extLst>
          </p:cNvPr>
          <p:cNvSpPr>
            <a:spLocks noGrp="1"/>
          </p:cNvSpPr>
          <p:nvPr/>
        </p:nvSpPr>
        <p:spPr>
          <a:xfrm>
            <a:off x="10934700" y="6591300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86789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AC37DAB-A476-4A72-BE52-DA19365294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6B9C8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FD5DF7-5D67-4F8E-8387-B5E13326100F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Final test set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98EDCC-D186-49AB-974D-B8CA5DDAEBA2}"/>
              </a:ext>
            </a:extLst>
          </p:cNvPr>
          <p:cNvSpPr>
            <a:spLocks noGrp="1"/>
          </p:cNvSpPr>
          <p:nvPr/>
        </p:nvSpPr>
        <p:spPr>
          <a:xfrm>
            <a:off x="704850" y="990600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Evaluation on 3,800 unseen images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42577D-D6D8-4555-A799-047097408FF2}"/>
              </a:ext>
            </a:extLst>
          </p:cNvPr>
          <p:cNvSpPr>
            <a:spLocks noGrp="1"/>
          </p:cNvSpPr>
          <p:nvPr/>
        </p:nvSpPr>
        <p:spPr>
          <a:xfrm>
            <a:off x="1619250" y="2057400"/>
            <a:ext cx="23812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435"/>
          </a:bodyPr>
          <a:lstStyle/>
          <a:p>
            <a:pPr algn="ctr">
              <a:defRPr sz="3450" b="1">
                <a:solidFill>
                  <a:srgbClr val="16B9C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B9C8"/>
                </a:solidFill>
                <a:latin typeface="Arial"/>
                <a:ea typeface="Arial"/>
                <a:cs typeface="Arial"/>
              </a:rPr>
              <a:t>3,200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230AC1-1054-42F9-8CB5-25F8934C8DE7}"/>
              </a:ext>
            </a:extLst>
          </p:cNvPr>
          <p:cNvSpPr>
            <a:spLocks noGrp="1"/>
          </p:cNvSpPr>
          <p:nvPr/>
        </p:nvSpPr>
        <p:spPr>
          <a:xfrm>
            <a:off x="1619250" y="2714625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ctr">
              <a:defRPr sz="1350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correct classifications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C1006B-408C-4408-97F4-658D3213D448}"/>
              </a:ext>
            </a:extLst>
          </p:cNvPr>
          <p:cNvSpPr>
            <a:spLocks noGrp="1"/>
          </p:cNvSpPr>
          <p:nvPr/>
        </p:nvSpPr>
        <p:spPr>
          <a:xfrm>
            <a:off x="4953000" y="2057400"/>
            <a:ext cx="23812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435"/>
          </a:bodyPr>
          <a:lstStyle/>
          <a:p>
            <a:pPr algn="ctr">
              <a:defRPr sz="3450" b="1">
                <a:solidFill>
                  <a:srgbClr val="F2A8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A83B"/>
                </a:solidFill>
                <a:latin typeface="Arial"/>
                <a:ea typeface="Arial"/>
                <a:cs typeface="Arial"/>
              </a:rPr>
              <a:t>987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DF41CF-6AE8-43C4-B908-E752EE1CD1FF}"/>
              </a:ext>
            </a:extLst>
          </p:cNvPr>
          <p:cNvSpPr>
            <a:spLocks noGrp="1"/>
          </p:cNvSpPr>
          <p:nvPr/>
        </p:nvSpPr>
        <p:spPr>
          <a:xfrm>
            <a:off x="4953000" y="2714625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ctr">
              <a:defRPr sz="1350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malignant lesions detected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F619-ADAD-438A-AFB9-776328D5F2E3}"/>
              </a:ext>
            </a:extLst>
          </p:cNvPr>
          <p:cNvSpPr>
            <a:spLocks noGrp="1"/>
          </p:cNvSpPr>
          <p:nvPr/>
        </p:nvSpPr>
        <p:spPr>
          <a:xfrm>
            <a:off x="8286750" y="2057400"/>
            <a:ext cx="23812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435"/>
          </a:bodyPr>
          <a:lstStyle/>
          <a:p>
            <a:pPr algn="ctr">
              <a:defRPr sz="34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284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B3F831-39DC-46FA-BCF1-3BB9A5C80537}"/>
              </a:ext>
            </a:extLst>
          </p:cNvPr>
          <p:cNvSpPr>
            <a:spLocks noGrp="1"/>
          </p:cNvSpPr>
          <p:nvPr/>
        </p:nvSpPr>
        <p:spPr>
          <a:xfrm>
            <a:off x="8286750" y="2714625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ctr">
              <a:defRPr sz="1350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malignant lesions missed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082B97-1A0F-44D9-AEA5-A384CD0D462A}"/>
              </a:ext>
            </a:extLst>
          </p:cNvPr>
          <p:cNvSpPr>
            <a:spLocks noGrp="1"/>
          </p:cNvSpPr>
          <p:nvPr/>
        </p:nvSpPr>
        <p:spPr>
          <a:xfrm>
            <a:off x="1238250" y="3905250"/>
            <a:ext cx="9620250" cy="9525"/>
          </a:xfrm>
          <a:prstGeom prst="rect">
            <a:avLst/>
          </a:prstGeom>
          <a:solidFill>
            <a:srgbClr val="D5E5E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4CDB2D-1EFA-40A5-BCB0-552330B39125}"/>
              </a:ext>
            </a:extLst>
          </p:cNvPr>
          <p:cNvSpPr>
            <a:spLocks noGrp="1"/>
          </p:cNvSpPr>
          <p:nvPr/>
        </p:nvSpPr>
        <p:spPr>
          <a:xfrm>
            <a:off x="1476375" y="4514850"/>
            <a:ext cx="9191625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666"/>
          </a:bodyPr>
          <a:lstStyle/>
          <a:p>
            <a:pPr algn="ctr">
              <a:defRPr sz="18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At a 0.50 threshold, the model correctly classified 2,213 of 2,529 benign images and 987 of 1,271 malignant images.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E6E758-BED6-4276-96EE-F1033E710A9B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10820400" cy="9525"/>
          </a:xfrm>
          <a:prstGeom prst="rect">
            <a:avLst/>
          </a:prstGeom>
          <a:solidFill>
            <a:srgbClr val="D5E5E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D0E63F-E696-4508-8886-AA074C6BA8FD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6953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DermaVision AI  |  Skin Lesion Classification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843DB2-2C4E-4636-A730-909BC413967D}"/>
              </a:ext>
            </a:extLst>
          </p:cNvPr>
          <p:cNvSpPr>
            <a:spLocks noGrp="1"/>
          </p:cNvSpPr>
          <p:nvPr/>
        </p:nvSpPr>
        <p:spPr>
          <a:xfrm>
            <a:off x="10934700" y="6591300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39292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8705CEF-7A8A-4EBE-92EF-CDB2C370A6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6B9C8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BBCDAF-7F38-4645-8B00-79534E386967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Test performance metrics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F37B35-7584-4368-874D-11924E15E626}"/>
              </a:ext>
            </a:extLst>
          </p:cNvPr>
          <p:cNvSpPr>
            <a:spLocks noGrp="1"/>
          </p:cNvSpPr>
          <p:nvPr/>
        </p:nvSpPr>
        <p:spPr>
          <a:xfrm>
            <a:off x="704850" y="990600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All reported metrics come from the held-out ISIC test set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1333500" y="1524000"/>
          <a:ext cx="904875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4858986-0894-4A2C-B2F7-0A39279F4BB5}"/>
              </a:ext>
            </a:extLst>
          </p:cNvPr>
          <p:cNvSpPr>
            <a:spLocks noGrp="1"/>
          </p:cNvSpPr>
          <p:nvPr/>
        </p:nvSpPr>
        <p:spPr>
          <a:xfrm>
            <a:off x="1333500" y="5581650"/>
            <a:ext cx="90487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886"/>
          </a:bodyPr>
          <a:lstStyle/>
          <a:p>
            <a:pPr algn="ctr">
              <a:defRPr sz="1350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ROC-AUC reflects ranking ability across thresholds. Accuracy and the remaining metrics reflect predictions at the selected 0.50 threshold.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6FCCC1-16A1-4060-8EB2-540D61FFFD98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10820400" cy="9525"/>
          </a:xfrm>
          <a:prstGeom prst="rect">
            <a:avLst/>
          </a:prstGeom>
          <a:solidFill>
            <a:srgbClr val="D5E5E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716E25-8053-46C6-AC63-16F3615989F1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6953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DermaVision AI  |  Skin Lesion Classification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A4B343-5AAD-44DC-86F1-72C38623D252}"/>
              </a:ext>
            </a:extLst>
          </p:cNvPr>
          <p:cNvSpPr>
            <a:spLocks noGrp="1"/>
          </p:cNvSpPr>
          <p:nvPr/>
        </p:nvSpPr>
        <p:spPr>
          <a:xfrm>
            <a:off x="10934700" y="6591300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74549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88BD55-8D7D-4A0E-9EEC-33AB9B167F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6B9C8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2DCD25-F2B6-49AF-9F22-66962553C833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Confusion matrix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BDA79B-52D2-4147-B376-35527F9D8FC1}"/>
              </a:ext>
            </a:extLst>
          </p:cNvPr>
          <p:cNvSpPr>
            <a:spLocks noGrp="1"/>
          </p:cNvSpPr>
          <p:nvPr/>
        </p:nvSpPr>
        <p:spPr>
          <a:xfrm>
            <a:off x="704850" y="990600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Test-set classification outcomes at a 0.50 probability threshold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="1381125" y="1619250"/>
          <a:ext cx="9334500" cy="2667000"/>
        </p:xfrm>
        <a:graphic>
          <a:graphicData uri="http://schemas.openxmlformats.org/drawingml/2006/table">
            <a:tbl>
              <a:tblPr firstRow="1" lastRow="1" bandRow="1"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t>True class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Predicted benign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Predicted malignant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t>Benign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2,213</a:t>
                      </a:r>
                    </a:p>
                  </a:txBody>
                  <a:tcPr>
                    <a:solidFill>
                      <a:srgbClr val="DD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316</a:t>
                      </a:r>
                    </a:p>
                  </a:txBody>
                  <a:tcPr>
                    <a:solidFill>
                      <a:srgbClr val="FFF1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2,529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t>Malignant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284</a:t>
                      </a:r>
                    </a:p>
                  </a:txBody>
                  <a:tcPr>
                    <a:solidFill>
                      <a:srgbClr val="FFF1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987</a:t>
                      </a:r>
                    </a:p>
                  </a:txBody>
                  <a:tcPr>
                    <a:solidFill>
                      <a:srgbClr val="DD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1,271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2,497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67E6A36-1C0B-4162-9397-E9DA14CA2426}"/>
              </a:ext>
            </a:extLst>
          </p:cNvPr>
          <p:cNvSpPr>
            <a:spLocks noGrp="1"/>
          </p:cNvSpPr>
          <p:nvPr/>
        </p:nvSpPr>
        <p:spPr>
          <a:xfrm>
            <a:off x="2266950" y="5048250"/>
            <a:ext cx="7620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000"/>
          </a:bodyPr>
          <a:lstStyle/>
          <a:p>
            <a: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Sensitivity: 77.66%    |    Specificity: 87.50%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217250-D408-490B-A508-B545D4BF2D28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10820400" cy="9525"/>
          </a:xfrm>
          <a:prstGeom prst="rect">
            <a:avLst/>
          </a:prstGeom>
          <a:solidFill>
            <a:srgbClr val="D5E5E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9F24CA-69CE-4BB9-8406-93BE7FD5FC0A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6953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DermaVision AI  |  Skin Lesion Classification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90C3DC-0767-4B3D-9095-DDA2CADE67E5}"/>
              </a:ext>
            </a:extLst>
          </p:cNvPr>
          <p:cNvSpPr>
            <a:spLocks noGrp="1"/>
          </p:cNvSpPr>
          <p:nvPr/>
        </p:nvSpPr>
        <p:spPr>
          <a:xfrm>
            <a:off x="10934700" y="6591300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1636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E080605-2DB9-4F2E-B9A0-481BFA1C60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6B9C8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0D45C7-53C2-41B4-A7E8-53E44FA9078F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What the results mean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A4451E-5FD4-4EE3-B4A8-27EAC2332E2D}"/>
              </a:ext>
            </a:extLst>
          </p:cNvPr>
          <p:cNvSpPr>
            <a:spLocks noGrp="1"/>
          </p:cNvSpPr>
          <p:nvPr/>
        </p:nvSpPr>
        <p:spPr>
          <a:xfrm>
            <a:off x="704850" y="990600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Strong image-ranking performance with meaningful false-negative cases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29964B-8C1C-4987-ADAA-DEC635C25281}"/>
              </a:ext>
            </a:extLst>
          </p:cNvPr>
          <p:cNvSpPr>
            <a:spLocks noGrp="1"/>
          </p:cNvSpPr>
          <p:nvPr/>
        </p:nvSpPr>
        <p:spPr>
          <a:xfrm>
            <a:off x="990600" y="1762125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16B9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B9C8"/>
                </a:solidFill>
                <a:latin typeface="Arial"/>
                <a:ea typeface="Arial"/>
                <a:cs typeface="Arial"/>
              </a:rPr>
              <a:t>Strength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2C0315-48B7-43B1-AE24-B4FB40FA5F1E}"/>
              </a:ext>
            </a:extLst>
          </p:cNvPr>
          <p:cNvSpPr>
            <a:spLocks noGrp="1"/>
          </p:cNvSpPr>
          <p:nvPr/>
        </p:nvSpPr>
        <p:spPr>
          <a:xfrm>
            <a:off x="990600" y="2238375"/>
            <a:ext cx="4286250" cy="1009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8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ROC-AUC of 0.9153 indicates strong discrimination between malignant and benign images in this test set.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17E4C1-62FC-4F96-9E82-A9426BDA8F33}"/>
              </a:ext>
            </a:extLst>
          </p:cNvPr>
          <p:cNvSpPr>
            <a:spLocks noGrp="1"/>
          </p:cNvSpPr>
          <p:nvPr/>
        </p:nvSpPr>
        <p:spPr>
          <a:xfrm>
            <a:off x="6781800" y="1762125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F2A8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A83B"/>
                </a:solidFill>
                <a:latin typeface="Arial"/>
                <a:ea typeface="Arial"/>
                <a:cs typeface="Arial"/>
              </a:rPr>
              <a:t>Caution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12A98C-D51E-44C1-9899-42647990674F}"/>
              </a:ext>
            </a:extLst>
          </p:cNvPr>
          <p:cNvSpPr>
            <a:spLocks noGrp="1"/>
          </p:cNvSpPr>
          <p:nvPr/>
        </p:nvSpPr>
        <p:spPr>
          <a:xfrm>
            <a:off x="6781800" y="2238375"/>
            <a:ext cx="4286250" cy="1009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010"/>
          </a:bodyPr>
          <a:lstStyle/>
          <a:p>
            <a:pPr algn="l">
              <a:defRPr sz="18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The 0.50 threshold missed 284 malignant-labelled images. Model output must not drive diagnosis without clinical validation.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037AF-D49F-44A6-829C-4FE65FB14CDF}"/>
              </a:ext>
            </a:extLst>
          </p:cNvPr>
          <p:cNvSpPr>
            <a:spLocks noGrp="1"/>
          </p:cNvSpPr>
          <p:nvPr/>
        </p:nvSpPr>
        <p:spPr>
          <a:xfrm>
            <a:off x="990600" y="4000500"/>
            <a:ext cx="10001250" cy="9525"/>
          </a:xfrm>
          <a:prstGeom prst="rect">
            <a:avLst/>
          </a:prstGeom>
          <a:solidFill>
            <a:srgbClr val="D5E5E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263B75-6778-4E51-A9E5-EC4AE59B7D2F}"/>
              </a:ext>
            </a:extLst>
          </p:cNvPr>
          <p:cNvSpPr>
            <a:spLocks noGrp="1"/>
          </p:cNvSpPr>
          <p:nvPr/>
        </p:nvSpPr>
        <p:spPr>
          <a:xfrm>
            <a:off x="990600" y="4514850"/>
            <a:ext cx="952500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ctr">
              <a:defRPr sz="1800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The results support continued research, including external validation, patient-level leakage checks, calibration, fairness analysis, and clinical governance.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39B819-55F4-41CA-A0BF-37A63D65097D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10820400" cy="9525"/>
          </a:xfrm>
          <a:prstGeom prst="rect">
            <a:avLst/>
          </a:prstGeom>
          <a:solidFill>
            <a:srgbClr val="D5E5E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1DDF98-324A-4577-AA8A-CCFADB94CECF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6953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DermaVision AI  |  Skin Lesion Classification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BF7E0C-2B09-4E5F-BB03-E3902580ABB6}"/>
              </a:ext>
            </a:extLst>
          </p:cNvPr>
          <p:cNvSpPr>
            <a:spLocks noGrp="1"/>
          </p:cNvSpPr>
          <p:nvPr/>
        </p:nvSpPr>
        <p:spPr>
          <a:xfrm>
            <a:off x="10934700" y="6591300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2850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730133B-0CED-4F60-A5B7-1991E575FC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6B9C8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46F129-8600-4AFD-8BDD-E6A43BB6553C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IBM Bob in the development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D0FD23-1581-4AC2-939C-0ECCC12F2AB4}"/>
              </a:ext>
            </a:extLst>
          </p:cNvPr>
          <p:cNvSpPr>
            <a:spLocks noGrp="1"/>
          </p:cNvSpPr>
          <p:nvPr/>
        </p:nvSpPr>
        <p:spPr>
          <a:xfrm>
            <a:off x="704850" y="990600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AI-assisted support for code understanding, refinement, and documentation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CB1B4C-4816-4E43-BEAF-CE2750F5ADFE}"/>
              </a:ext>
            </a:extLst>
          </p:cNvPr>
          <p:cNvSpPr>
            <a:spLocks noGrp="1"/>
          </p:cNvSpPr>
          <p:nvPr/>
        </p:nvSpPr>
        <p:spPr>
          <a:xfrm>
            <a:off x="952500" y="1676400"/>
            <a:ext cx="9144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026"/>
          </a:bodyPr>
          <a:lstStyle/>
          <a:p>
            <a:pPr algn="l"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IBM Bob supported the team as an AI-assisted development partner.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6EF962-25D9-4BB0-8323-01FD4504A251}"/>
              </a:ext>
            </a:extLst>
          </p:cNvPr>
          <p:cNvSpPr>
            <a:spLocks noGrp="1"/>
          </p:cNvSpPr>
          <p:nvPr/>
        </p:nvSpPr>
        <p:spPr>
          <a:xfrm>
            <a:off x="1143000" y="2552700"/>
            <a:ext cx="1619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7273"/>
          </a:bodyPr>
          <a:lstStyle/>
          <a:p>
            <a:pPr algn="l">
              <a:defRPr sz="1650" b="1">
                <a:solidFill>
                  <a:srgbClr val="16B9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B9C8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FA75E8-B085-491F-860D-FAA449C09BA0}"/>
              </a:ext>
            </a:extLst>
          </p:cNvPr>
          <p:cNvSpPr>
            <a:spLocks noGrp="1"/>
          </p:cNvSpPr>
          <p:nvPr/>
        </p:nvSpPr>
        <p:spPr>
          <a:xfrm>
            <a:off x="3190875" y="2552700"/>
            <a:ext cx="6572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Review the project workflow and explain model code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8A420C-EF76-4204-B9D1-67A188D291CF}"/>
              </a:ext>
            </a:extLst>
          </p:cNvPr>
          <p:cNvSpPr>
            <a:spLocks noGrp="1"/>
          </p:cNvSpPr>
          <p:nvPr/>
        </p:nvSpPr>
        <p:spPr>
          <a:xfrm>
            <a:off x="1143000" y="3086100"/>
            <a:ext cx="8620125" cy="9525"/>
          </a:xfrm>
          <a:prstGeom prst="rect">
            <a:avLst/>
          </a:prstGeom>
          <a:solidFill>
            <a:srgbClr val="D5E5E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64EA55-A209-4AB5-B35E-F3325BF9F27D}"/>
              </a:ext>
            </a:extLst>
          </p:cNvPr>
          <p:cNvSpPr>
            <a:spLocks noGrp="1"/>
          </p:cNvSpPr>
          <p:nvPr/>
        </p:nvSpPr>
        <p:spPr>
          <a:xfrm>
            <a:off x="1143000" y="3429000"/>
            <a:ext cx="1619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7273"/>
          </a:bodyPr>
          <a:lstStyle/>
          <a:p>
            <a:pPr algn="l">
              <a:defRPr sz="1650" b="1">
                <a:solidFill>
                  <a:srgbClr val="16B9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B9C8"/>
                </a:solidFill>
                <a:latin typeface="Arial"/>
                <a:ea typeface="Arial"/>
                <a:cs typeface="Arial"/>
              </a:rPr>
              <a:t>Refine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AA2EC6-5325-4D7B-A902-1C0D276D4AA7}"/>
              </a:ext>
            </a:extLst>
          </p:cNvPr>
          <p:cNvSpPr>
            <a:spLocks noGrp="1"/>
          </p:cNvSpPr>
          <p:nvPr/>
        </p:nvSpPr>
        <p:spPr>
          <a:xfrm>
            <a:off x="3190875" y="3429000"/>
            <a:ext cx="6572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Support debugging and improve code readability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3722A0-414C-4B38-8691-6DB25E647E7B}"/>
              </a:ext>
            </a:extLst>
          </p:cNvPr>
          <p:cNvSpPr>
            <a:spLocks noGrp="1"/>
          </p:cNvSpPr>
          <p:nvPr/>
        </p:nvSpPr>
        <p:spPr>
          <a:xfrm>
            <a:off x="1143000" y="3962400"/>
            <a:ext cx="8620125" cy="9525"/>
          </a:xfrm>
          <a:prstGeom prst="rect">
            <a:avLst/>
          </a:prstGeom>
          <a:solidFill>
            <a:srgbClr val="D5E5E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5E8A17-E654-4207-A9D4-77A3060A346B}"/>
              </a:ext>
            </a:extLst>
          </p:cNvPr>
          <p:cNvSpPr>
            <a:spLocks noGrp="1"/>
          </p:cNvSpPr>
          <p:nvPr/>
        </p:nvSpPr>
        <p:spPr>
          <a:xfrm>
            <a:off x="1143000" y="4305300"/>
            <a:ext cx="1619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7273"/>
          </a:bodyPr>
          <a:lstStyle/>
          <a:p>
            <a:pPr algn="l">
              <a:defRPr sz="1650" b="1">
                <a:solidFill>
                  <a:srgbClr val="16B9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B9C8"/>
                </a:solidFill>
                <a:latin typeface="Arial"/>
                <a:ea typeface="Arial"/>
                <a:cs typeface="Arial"/>
              </a:rPr>
              <a:t>Document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13F25F-0C5B-4891-B9FB-B02F3DFEDB32}"/>
              </a:ext>
            </a:extLst>
          </p:cNvPr>
          <p:cNvSpPr>
            <a:spLocks noGrp="1"/>
          </p:cNvSpPr>
          <p:nvPr/>
        </p:nvSpPr>
        <p:spPr>
          <a:xfrm>
            <a:off x="3190875" y="4305300"/>
            <a:ext cx="6572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Help structure the technical report and presentation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75E67B-13DA-4F94-B4F5-2ECD4B624862}"/>
              </a:ext>
            </a:extLst>
          </p:cNvPr>
          <p:cNvSpPr>
            <a:spLocks noGrp="1"/>
          </p:cNvSpPr>
          <p:nvPr/>
        </p:nvSpPr>
        <p:spPr>
          <a:xfrm>
            <a:off x="1143000" y="4838700"/>
            <a:ext cx="8620125" cy="9525"/>
          </a:xfrm>
          <a:prstGeom prst="rect">
            <a:avLst/>
          </a:prstGeom>
          <a:solidFill>
            <a:srgbClr val="D5E5E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B8C262-BE91-4EAD-A072-94714F68C5EA}"/>
              </a:ext>
            </a:extLst>
          </p:cNvPr>
          <p:cNvSpPr>
            <a:spLocks noGrp="1"/>
          </p:cNvSpPr>
          <p:nvPr/>
        </p:nvSpPr>
        <p:spPr>
          <a:xfrm>
            <a:off x="1143000" y="5429250"/>
            <a:ext cx="8858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622"/>
          </a:bodyPr>
          <a:lstStyle/>
          <a:p>
            <a:pPr algn="l">
              <a:defRPr sz="1500" b="0" i="1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1500" b="0" i="1">
                <a:solidFill>
                  <a:srgbClr val="5E728A"/>
                </a:solidFill>
                <a:latin typeface="Arial"/>
                <a:ea typeface="Arial"/>
                <a:cs typeface="Arial"/>
              </a:rPr>
              <a:t>The machine-learning model itself uses PyTorch, Torchvision, Pandas, Scikit-learn, and Jupyter Notebook.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40B310-DC86-4632-827E-3D955BDADB33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10820400" cy="9525"/>
          </a:xfrm>
          <a:prstGeom prst="rect">
            <a:avLst/>
          </a:prstGeom>
          <a:solidFill>
            <a:srgbClr val="D5E5E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D2D3DE-A063-4844-A41E-551CE3A6F303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6953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DermaVision AI  |  Skin Lesion Classification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6EB1DF-6844-4D68-BB14-EA5362A31F2D}"/>
              </a:ext>
            </a:extLst>
          </p:cNvPr>
          <p:cNvSpPr>
            <a:spLocks noGrp="1"/>
          </p:cNvSpPr>
          <p:nvPr/>
        </p:nvSpPr>
        <p:spPr>
          <a:xfrm>
            <a:off x="10934700" y="6591300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5E72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728A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294776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C79F1E-EE5B-4E0C-8CC0-1F9878C055F1}"/>
              </a:ext>
            </a:extLst>
          </p:cNvPr>
          <p:cNvSpPr>
            <a:spLocks noGrp="1"/>
          </p:cNvSpPr>
          <p:nvPr/>
        </p:nvSpPr>
        <p:spPr>
          <a:xfrm>
            <a:off x="666750" y="1181100"/>
            <a:ext cx="1047750" cy="76200"/>
          </a:xfrm>
          <a:prstGeom prst="rect">
            <a:avLst/>
          </a:prstGeom>
          <a:solidFill>
            <a:srgbClr val="16B9C8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BF5D2D-6739-484A-8019-F5229029B778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4000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032"/>
          </a:bodyPr>
          <a:lstStyle/>
          <a:p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613E28-E15E-477D-80AE-F5ED765733D2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7381875" cy="914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759"/>
          </a:bodyPr>
          <a:lstStyle/>
          <a:p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DermaVision AI demonstrates an end-to-end image-classification workflow for skin-lesion research, with strong reported test discrimination using ResNet50 transfer learning.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2A41E4-CB71-4360-AD2F-8E1B9E220529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406"/>
          </a:bodyPr>
          <a:lstStyle/>
          <a:p>
            <a:pPr algn="l">
              <a:defRPr sz="1725" b="1">
                <a:solidFill>
                  <a:srgbClr val="65E3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5E3E8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BD5F70-AA70-47C0-BFF4-DC854DADD27F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6286500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Correct the Stage 1 scheduler</a:t>
            </a:r>
          </a:p>
          <a:p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Confirm the intended checkpoint</a:t>
            </a:r>
          </a:p>
          <a:p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Validate beyond one image-level split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746FC3-8BD3-4819-8CE3-8F93DD0D38D7}"/>
              </a:ext>
            </a:extLst>
          </p:cNvPr>
          <p:cNvSpPr>
            <a:spLocks noGrp="1"/>
          </p:cNvSpPr>
          <p:nvPr/>
        </p:nvSpPr>
        <p:spPr>
          <a:xfrm>
            <a:off x="9001125" y="5162550"/>
            <a:ext cx="2143125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000"/>
          </a:bodyPr>
          <a:lstStyle/>
          <a:p>
            <a:pPr algn="r">
              <a:defRPr sz="2250" b="1">
                <a:solidFill>
                  <a:srgbClr val="65E3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5E3E8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FDDF6E-A5DC-4265-8C75-18360A3964E7}"/>
              </a:ext>
            </a:extLst>
          </p:cNvPr>
          <p:cNvSpPr>
            <a:spLocks noGrp="1"/>
          </p:cNvSpPr>
          <p:nvPr/>
        </p:nvSpPr>
        <p:spPr>
          <a:xfrm>
            <a:off x="7381875" y="5715000"/>
            <a:ext cx="3762375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000"/>
          </a:bodyPr>
          <a:lstStyle/>
          <a:p>
            <a:pPr algn="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Satvik Garg  |  DermaVision AI</a:t>
            </a:r>
          </a:p>
        </p:txBody>
      </p:sp>
    </p:spTree>
    <p:extLst>
      <p:ext uri="{BB962C8B-B14F-4D97-AF65-F5344CB8AC3E}">
        <p14:creationId xmlns:p14="http://schemas.microsoft.com/office/powerpoint/2010/main" val="161631774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1495</Words>
  <Application>Microsoft Office PowerPoint</Application>
  <DocSecurity>0</DocSecurity>
  <PresentationFormat>Widescreen</PresentationFormat>
  <Paragraphs>265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SATVIK GARG - 123198820 - MITMPL</cp:lastModifiedBy>
  <cp:revision>1</cp:revision>
  <dcterms:created xsi:type="dcterms:W3CDTF">2026-09-12T09:46:12Z</dcterms:created>
  <dcterms:modified xsi:type="dcterms:W3CDTF">2026-09-12T09:51:15Z</dcterms:modified>
</cp:coreProperties>
</file>